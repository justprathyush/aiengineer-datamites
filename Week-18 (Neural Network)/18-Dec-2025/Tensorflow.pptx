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259" r:id="rId4"/>
    <p:sldId id="260" r:id="rId5"/>
    <p:sldId id="273" r:id="rId6"/>
    <p:sldId id="274" r:id="rId7"/>
    <p:sldId id="261" r:id="rId8"/>
    <p:sldId id="275" r:id="rId9"/>
    <p:sldId id="276" r:id="rId10"/>
    <p:sldId id="262" r:id="rId11"/>
    <p:sldId id="263" r:id="rId12"/>
    <p:sldId id="271" r:id="rId13"/>
    <p:sldId id="277" r:id="rId14"/>
    <p:sldId id="272" r:id="rId15"/>
    <p:sldId id="264" r:id="rId16"/>
    <p:sldId id="269" r:id="rId17"/>
    <p:sldId id="268" r:id="rId18"/>
    <p:sldId id="265" r:id="rId19"/>
    <p:sldId id="266" r:id="rId20"/>
    <p:sldId id="270"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ju5Rlr03Bj91y+uIEje0BsC8+0u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820" y="4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 name="Google Shape;48;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 name="Google Shape;56;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
        <p:cNvGrpSpPr/>
        <p:nvPr/>
      </p:nvGrpSpPr>
      <p:grpSpPr>
        <a:xfrm>
          <a:off x="0" y="0"/>
          <a:ext cx="0" cy="0"/>
          <a:chOff x="0" y="0"/>
          <a:chExt cx="0" cy="0"/>
        </a:xfrm>
      </p:grpSpPr>
      <p:sp>
        <p:nvSpPr>
          <p:cNvPr id="17" name="Google Shape;17;p120"/>
          <p:cNvSpPr txBox="1">
            <a:spLocks noGrp="1"/>
          </p:cNvSpPr>
          <p:nvPr>
            <p:ph type="ctrTitle"/>
          </p:nvPr>
        </p:nvSpPr>
        <p:spPr>
          <a:xfrm>
            <a:off x="685800" y="1597819"/>
            <a:ext cx="7772400" cy="1102519"/>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20"/>
          <p:cNvSpPr txBox="1">
            <a:spLocks noGrp="1"/>
          </p:cNvSpPr>
          <p:nvPr>
            <p:ph type="subTitle" idx="1"/>
          </p:nvPr>
        </p:nvSpPr>
        <p:spPr>
          <a:xfrm>
            <a:off x="1371600" y="2914650"/>
            <a:ext cx="6400800" cy="131445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9" name="Google Shape;19;p120"/>
          <p:cNvSpPr txBox="1">
            <a:spLocks noGrp="1"/>
          </p:cNvSpPr>
          <p:nvPr>
            <p:ph type="sldNum" idx="12"/>
          </p:nvPr>
        </p:nvSpPr>
        <p:spPr>
          <a:xfrm>
            <a:off x="8458200" y="4888706"/>
            <a:ext cx="533400" cy="2357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121"/>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Clr>
                <a:schemeClr val="dk1"/>
              </a:buClr>
              <a:buSzPts val="3200"/>
              <a:buFont typeface="Calibri"/>
              <a:buNone/>
              <a:defRPr sz="3200">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121"/>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3" name="Google Shape;23;p121"/>
          <p:cNvSpPr txBox="1">
            <a:spLocks noGrp="1"/>
          </p:cNvSpPr>
          <p:nvPr>
            <p:ph type="sldNum" idx="12"/>
          </p:nvPr>
        </p:nvSpPr>
        <p:spPr>
          <a:xfrm>
            <a:off x="8458200" y="4850606"/>
            <a:ext cx="533400" cy="29289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21"/>
          <p:cNvSpPr/>
          <p:nvPr/>
        </p:nvSpPr>
        <p:spPr>
          <a:xfrm>
            <a:off x="0" y="666750"/>
            <a:ext cx="9144000" cy="45719"/>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5"/>
        <p:cNvGrpSpPr/>
        <p:nvPr/>
      </p:nvGrpSpPr>
      <p:grpSpPr>
        <a:xfrm>
          <a:off x="0" y="0"/>
          <a:ext cx="0" cy="0"/>
          <a:chOff x="0" y="0"/>
          <a:chExt cx="0" cy="0"/>
        </a:xfrm>
      </p:grpSpPr>
      <p:sp>
        <p:nvSpPr>
          <p:cNvPr id="26" name="Google Shape;26;p122"/>
          <p:cNvSpPr txBox="1">
            <a:spLocks noGrp="1"/>
          </p:cNvSpPr>
          <p:nvPr>
            <p:ph type="sldNum" idx="12"/>
          </p:nvPr>
        </p:nvSpPr>
        <p:spPr>
          <a:xfrm>
            <a:off x="8458200" y="4888706"/>
            <a:ext cx="533400" cy="2357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23"/>
          <p:cNvSpPr txBox="1">
            <a:spLocks noGrp="1"/>
          </p:cNvSpPr>
          <p:nvPr>
            <p:ph type="title"/>
          </p:nvPr>
        </p:nvSpPr>
        <p:spPr>
          <a:xfrm>
            <a:off x="722313" y="3305176"/>
            <a:ext cx="7772400" cy="1021556"/>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23"/>
          <p:cNvSpPr txBox="1">
            <a:spLocks noGrp="1"/>
          </p:cNvSpPr>
          <p:nvPr>
            <p:ph type="body" idx="1"/>
          </p:nvPr>
        </p:nvSpPr>
        <p:spPr>
          <a:xfrm>
            <a:off x="722313" y="2180035"/>
            <a:ext cx="7772400" cy="112514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23"/>
          <p:cNvSpPr txBox="1">
            <a:spLocks noGrp="1"/>
          </p:cNvSpPr>
          <p:nvPr>
            <p:ph type="sldNum" idx="12"/>
          </p:nvPr>
        </p:nvSpPr>
        <p:spPr>
          <a:xfrm>
            <a:off x="8458200" y="4888706"/>
            <a:ext cx="533400" cy="2357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24"/>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24"/>
          <p:cNvSpPr txBox="1">
            <a:spLocks noGrp="1"/>
          </p:cNvSpPr>
          <p:nvPr>
            <p:ph type="body" idx="1"/>
          </p:nvPr>
        </p:nvSpPr>
        <p:spPr>
          <a:xfrm>
            <a:off x="457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4" name="Google Shape;34;p124"/>
          <p:cNvSpPr txBox="1">
            <a:spLocks noGrp="1"/>
          </p:cNvSpPr>
          <p:nvPr>
            <p:ph type="body" idx="2"/>
          </p:nvPr>
        </p:nvSpPr>
        <p:spPr>
          <a:xfrm>
            <a:off x="4648200" y="1200151"/>
            <a:ext cx="4038600" cy="3394472"/>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5" name="Google Shape;35;p124"/>
          <p:cNvSpPr txBox="1">
            <a:spLocks noGrp="1"/>
          </p:cNvSpPr>
          <p:nvPr>
            <p:ph type="sldNum" idx="12"/>
          </p:nvPr>
        </p:nvSpPr>
        <p:spPr>
          <a:xfrm>
            <a:off x="8458200" y="4888706"/>
            <a:ext cx="533400" cy="2357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125"/>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25"/>
          <p:cNvSpPr txBox="1">
            <a:spLocks noGrp="1"/>
          </p:cNvSpPr>
          <p:nvPr>
            <p:ph type="body" idx="1"/>
          </p:nvPr>
        </p:nvSpPr>
        <p:spPr>
          <a:xfrm>
            <a:off x="457200" y="1151335"/>
            <a:ext cx="4040188"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39" name="Google Shape;39;p125"/>
          <p:cNvSpPr txBox="1">
            <a:spLocks noGrp="1"/>
          </p:cNvSpPr>
          <p:nvPr>
            <p:ph type="body" idx="2"/>
          </p:nvPr>
        </p:nvSpPr>
        <p:spPr>
          <a:xfrm>
            <a:off x="457200" y="1631156"/>
            <a:ext cx="4040188"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0" name="Google Shape;40;p125"/>
          <p:cNvSpPr txBox="1">
            <a:spLocks noGrp="1"/>
          </p:cNvSpPr>
          <p:nvPr>
            <p:ph type="body" idx="3"/>
          </p:nvPr>
        </p:nvSpPr>
        <p:spPr>
          <a:xfrm>
            <a:off x="4645026" y="1151335"/>
            <a:ext cx="4041775" cy="47982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125"/>
          <p:cNvSpPr txBox="1">
            <a:spLocks noGrp="1"/>
          </p:cNvSpPr>
          <p:nvPr>
            <p:ph type="body" idx="4"/>
          </p:nvPr>
        </p:nvSpPr>
        <p:spPr>
          <a:xfrm>
            <a:off x="4645026" y="1631156"/>
            <a:ext cx="4041775" cy="2963466"/>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125"/>
          <p:cNvSpPr txBox="1">
            <a:spLocks noGrp="1"/>
          </p:cNvSpPr>
          <p:nvPr>
            <p:ph type="sldNum" idx="12"/>
          </p:nvPr>
        </p:nvSpPr>
        <p:spPr>
          <a:xfrm>
            <a:off x="8458200" y="4888706"/>
            <a:ext cx="533400" cy="2357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3"/>
        <p:cNvGrpSpPr/>
        <p:nvPr/>
      </p:nvGrpSpPr>
      <p:grpSpPr>
        <a:xfrm>
          <a:off x="0" y="0"/>
          <a:ext cx="0" cy="0"/>
          <a:chOff x="0" y="0"/>
          <a:chExt cx="0" cy="0"/>
        </a:xfrm>
      </p:grpSpPr>
      <p:sp>
        <p:nvSpPr>
          <p:cNvPr id="44" name="Google Shape;44;p126"/>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26"/>
          <p:cNvSpPr txBox="1">
            <a:spLocks noGrp="1"/>
          </p:cNvSpPr>
          <p:nvPr>
            <p:ph type="sldNum" idx="12"/>
          </p:nvPr>
        </p:nvSpPr>
        <p:spPr>
          <a:xfrm>
            <a:off x="8458200" y="4888706"/>
            <a:ext cx="533400" cy="235744"/>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19"/>
          <p:cNvSpPr/>
          <p:nvPr/>
        </p:nvSpPr>
        <p:spPr>
          <a:xfrm>
            <a:off x="0" y="4888706"/>
            <a:ext cx="9144000" cy="25479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1" name="Google Shape;11;p119"/>
          <p:cNvSpPr txBox="1">
            <a:spLocks noGrp="1"/>
          </p:cNvSpPr>
          <p:nvPr>
            <p:ph type="title"/>
          </p:nvPr>
        </p:nvSpPr>
        <p:spPr>
          <a:xfrm>
            <a:off x="457200" y="205979"/>
            <a:ext cx="8229600" cy="85725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 name="Google Shape;12;p119"/>
          <p:cNvSpPr txBox="1">
            <a:spLocks noGrp="1"/>
          </p:cNvSpPr>
          <p:nvPr>
            <p:ph type="body" idx="1"/>
          </p:nvPr>
        </p:nvSpPr>
        <p:spPr>
          <a:xfrm>
            <a:off x="457200" y="1200151"/>
            <a:ext cx="8229600" cy="3394472"/>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 name="Google Shape;13;p119"/>
          <p:cNvSpPr txBox="1">
            <a:spLocks noGrp="1"/>
          </p:cNvSpPr>
          <p:nvPr>
            <p:ph type="sldNum" idx="12"/>
          </p:nvPr>
        </p:nvSpPr>
        <p:spPr>
          <a:xfrm>
            <a:off x="8458200" y="4888706"/>
            <a:ext cx="533400" cy="235744"/>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400"/>
              <a:buFont typeface="Arial"/>
              <a:buNone/>
              <a:defRPr sz="14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14" name="Google Shape;14;p119"/>
          <p:cNvSpPr txBox="1"/>
          <p:nvPr/>
        </p:nvSpPr>
        <p:spPr>
          <a:xfrm>
            <a:off x="381000" y="4888706"/>
            <a:ext cx="7137057" cy="273844"/>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US" sz="1200" b="1" i="0" u="none" strike="noStrike" cap="none">
                <a:solidFill>
                  <a:schemeClr val="lt1"/>
                </a:solidFill>
                <a:latin typeface="Calibri"/>
                <a:ea typeface="Calibri"/>
                <a:cs typeface="Calibri"/>
                <a:sym typeface="Calibri"/>
              </a:rPr>
              <a:t>© DataMites®. All Rights Reserved | www.datamites.com                    DATA SCIENCE FOUNDATION</a:t>
            </a:r>
            <a:endParaRPr sz="1200" b="1" i="0" u="none" strike="noStrike" cap="none">
              <a:solidFill>
                <a:schemeClr val="lt1"/>
              </a:solidFill>
              <a:latin typeface="Calibri"/>
              <a:ea typeface="Calibri"/>
              <a:cs typeface="Calibri"/>
              <a:sym typeface="Calibri"/>
            </a:endParaRPr>
          </a:p>
        </p:txBody>
      </p:sp>
      <p:pic>
        <p:nvPicPr>
          <p:cNvPr id="15" name="Google Shape;15;p119" descr="Logo&#10;&#10;Description automatically generated"/>
          <p:cNvPicPr preferRelativeResize="0"/>
          <p:nvPr/>
        </p:nvPicPr>
        <p:blipFill rotWithShape="1">
          <a:blip r:embed="rId9">
            <a:alphaModFix/>
          </a:blip>
          <a:srcRect/>
          <a:stretch/>
        </p:blipFill>
        <p:spPr>
          <a:xfrm>
            <a:off x="7822857" y="4635049"/>
            <a:ext cx="1168743" cy="302472"/>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22"/>
          <p:cNvSpPr txBox="1">
            <a:spLocks noGrp="1"/>
          </p:cNvSpPr>
          <p:nvPr>
            <p:ph type="ctrTitle"/>
          </p:nvPr>
        </p:nvSpPr>
        <p:spPr>
          <a:xfrm>
            <a:off x="4572000" y="1080925"/>
            <a:ext cx="3886200" cy="13146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960"/>
              <a:buFont typeface="Calibri"/>
              <a:buNone/>
            </a:pPr>
            <a:r>
              <a:rPr lang="en-US" sz="4000" b="1" dirty="0"/>
              <a:t>TensorFlow Foundation</a:t>
            </a:r>
            <a:endParaRPr sz="4000" b="1" dirty="0"/>
          </a:p>
        </p:txBody>
      </p:sp>
      <p:sp>
        <p:nvSpPr>
          <p:cNvPr id="51" name="Google Shape;51;p22"/>
          <p:cNvSpPr txBox="1">
            <a:spLocks noGrp="1"/>
          </p:cNvSpPr>
          <p:nvPr>
            <p:ph type="sldNum" idx="12"/>
          </p:nvPr>
        </p:nvSpPr>
        <p:spPr>
          <a:xfrm>
            <a:off x="8458200" y="4888706"/>
            <a:ext cx="533400" cy="23574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pic>
        <p:nvPicPr>
          <p:cNvPr id="53" name="Google Shape;53;p22" descr="Image result for machine learning robot"/>
          <p:cNvPicPr preferRelativeResize="0"/>
          <p:nvPr/>
        </p:nvPicPr>
        <p:blipFill rotWithShape="1">
          <a:blip r:embed="rId3">
            <a:alphaModFix/>
          </a:blip>
          <a:srcRect/>
          <a:stretch/>
        </p:blipFill>
        <p:spPr>
          <a:xfrm>
            <a:off x="0" y="856000"/>
            <a:ext cx="4495800" cy="3371850"/>
          </a:xfrm>
          <a:prstGeom prst="rect">
            <a:avLst/>
          </a:prstGeom>
          <a:noFill/>
          <a:ln>
            <a:noFill/>
          </a:ln>
        </p:spPr>
      </p:pic>
      <p:pic>
        <p:nvPicPr>
          <p:cNvPr id="1026" name="Picture 2" descr="Introduction to Multilayer Neural Networks with TensorFlow's Keras API | by  Lorraine Li | Towards Data Science">
            <a:extLst>
              <a:ext uri="{FF2B5EF4-FFF2-40B4-BE49-F238E27FC236}">
                <a16:creationId xmlns:a16="http://schemas.microsoft.com/office/drawing/2014/main" id="{CF7E3DF9-96A0-A628-ABEB-B72310299EA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2846725"/>
            <a:ext cx="3305175" cy="13811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457200" y="133350"/>
            <a:ext cx="5029200" cy="460771"/>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3200"/>
              <a:buFont typeface="Calibri"/>
              <a:buNone/>
            </a:pPr>
            <a:r>
              <a:rPr lang="en-IN" sz="2800" dirty="0"/>
              <a:t>What is TensorFlow</a:t>
            </a:r>
            <a:endParaRPr sz="2800" dirty="0"/>
          </a:p>
        </p:txBody>
      </p:sp>
      <p:sp>
        <p:nvSpPr>
          <p:cNvPr id="59" name="Google Shape;59;p23"/>
          <p:cNvSpPr txBox="1">
            <a:spLocks noGrp="1"/>
          </p:cNvSpPr>
          <p:nvPr>
            <p:ph type="body" idx="1"/>
          </p:nvPr>
        </p:nvSpPr>
        <p:spPr>
          <a:xfrm>
            <a:off x="379708" y="874514"/>
            <a:ext cx="8229600" cy="3394472"/>
          </a:xfrm>
          <a:prstGeom prst="rect">
            <a:avLst/>
          </a:prstGeom>
          <a:noFill/>
          <a:ln>
            <a:noFill/>
          </a:ln>
        </p:spPr>
        <p:txBody>
          <a:bodyPr spcFirstLastPara="1" wrap="square" lIns="91425" tIns="45700" rIns="91425" bIns="45700" anchor="t" anchorCtr="0">
            <a:normAutofit/>
          </a:bodyPr>
          <a:lstStyle/>
          <a:p>
            <a:pPr marL="457200" lvl="0" indent="-342900" algn="l" rtl="0">
              <a:lnSpc>
                <a:spcPct val="100000"/>
              </a:lnSpc>
              <a:spcBef>
                <a:spcPts val="0"/>
              </a:spcBef>
              <a:spcAft>
                <a:spcPts val="0"/>
              </a:spcAft>
              <a:buSzPts val="1800"/>
              <a:buChar char="•"/>
            </a:pPr>
            <a:r>
              <a:rPr lang="en-US" sz="1600" b="0" i="0" dirty="0">
                <a:solidFill>
                  <a:srgbClr val="374151"/>
                </a:solidFill>
                <a:effectLst/>
                <a:latin typeface="Calibri" panose="020F0502020204030204" pitchFamily="34" charset="0"/>
                <a:cs typeface="Calibri" panose="020F0502020204030204" pitchFamily="34" charset="0"/>
              </a:rPr>
              <a:t>TensorFlow is a free and open-source software library for machine learning and artificial intelligence. It was developed by Google and released in 2015.</a:t>
            </a:r>
          </a:p>
          <a:p>
            <a:pPr marL="457200" lvl="0" indent="-342900" algn="l" rtl="0">
              <a:lnSpc>
                <a:spcPct val="100000"/>
              </a:lnSpc>
              <a:spcBef>
                <a:spcPts val="0"/>
              </a:spcBef>
              <a:spcAft>
                <a:spcPts val="0"/>
              </a:spcAft>
              <a:buSzPts val="1800"/>
              <a:buChar char="•"/>
            </a:pPr>
            <a:endParaRPr lang="en-US" sz="1600" b="0" i="0" dirty="0">
              <a:solidFill>
                <a:srgbClr val="374151"/>
              </a:solidFill>
              <a:effectLst/>
              <a:latin typeface="Calibri" panose="020F0502020204030204" pitchFamily="34" charset="0"/>
              <a:cs typeface="Calibri" panose="020F0502020204030204" pitchFamily="34" charset="0"/>
            </a:endParaRPr>
          </a:p>
          <a:p>
            <a:pPr marL="457200" lvl="0" indent="-342900" algn="l" rtl="0">
              <a:lnSpc>
                <a:spcPct val="100000"/>
              </a:lnSpc>
              <a:spcBef>
                <a:spcPts val="0"/>
              </a:spcBef>
              <a:spcAft>
                <a:spcPts val="0"/>
              </a:spcAft>
              <a:buSzPts val="1800"/>
              <a:buChar char="•"/>
            </a:pPr>
            <a:r>
              <a:rPr lang="en-US" sz="1600" dirty="0">
                <a:solidFill>
                  <a:srgbClr val="374151"/>
                </a:solidFill>
                <a:latin typeface="Calibri" panose="020F0502020204030204" pitchFamily="34" charset="0"/>
                <a:cs typeface="Calibri" panose="020F0502020204030204" pitchFamily="34" charset="0"/>
              </a:rPr>
              <a:t>TensorFlow allows users to build and deploy machine learning models using a variety of techniques, including deep learning, neural networks, and gradient-based optimization. It provides various tools and libraries for implementing and training machine learning models and for serving and deploying those models in production environments.</a:t>
            </a:r>
          </a:p>
          <a:p>
            <a:pPr marL="114300" lvl="0" indent="0" algn="l" rtl="0">
              <a:lnSpc>
                <a:spcPct val="100000"/>
              </a:lnSpc>
              <a:spcBef>
                <a:spcPts val="0"/>
              </a:spcBef>
              <a:spcAft>
                <a:spcPts val="0"/>
              </a:spcAft>
              <a:buSzPts val="1800"/>
              <a:buNone/>
            </a:pPr>
            <a:endParaRPr lang="en-US" sz="1600" dirty="0">
              <a:solidFill>
                <a:srgbClr val="374151"/>
              </a:solidFill>
              <a:latin typeface="Calibri" panose="020F0502020204030204" pitchFamily="34" charset="0"/>
              <a:cs typeface="Calibri" panose="020F0502020204030204" pitchFamily="34" charset="0"/>
            </a:endParaRPr>
          </a:p>
          <a:p>
            <a:pPr marL="457200" lvl="0" indent="-342900" algn="l" rtl="0">
              <a:lnSpc>
                <a:spcPct val="100000"/>
              </a:lnSpc>
              <a:spcBef>
                <a:spcPts val="0"/>
              </a:spcBef>
              <a:spcAft>
                <a:spcPts val="0"/>
              </a:spcAft>
              <a:buSzPts val="1800"/>
              <a:buChar char="•"/>
            </a:pPr>
            <a:r>
              <a:rPr lang="en-US" sz="1600" dirty="0">
                <a:solidFill>
                  <a:srgbClr val="374151"/>
                </a:solidFill>
                <a:latin typeface="Calibri" panose="020F0502020204030204" pitchFamily="34" charset="0"/>
                <a:cs typeface="Calibri" panose="020F0502020204030204" pitchFamily="34" charset="0"/>
              </a:rPr>
              <a:t>The core structure of TensorFlow consists of a computation graph, in which nodes represent mathematical operations and edges represent the flow of data between nodes. TensorFlow allows users to define and execute computation graphs in Python or C++, as well as to use pre-trained models and load data from various sources.</a:t>
            </a:r>
            <a:endParaRPr sz="1600" dirty="0">
              <a:solidFill>
                <a:srgbClr val="374151"/>
              </a:solidFill>
              <a:latin typeface="Calibri" panose="020F0502020204030204" pitchFamily="34" charset="0"/>
              <a:cs typeface="Calibri" panose="020F0502020204030204" pitchFamily="34" charset="0"/>
            </a:endParaRPr>
          </a:p>
        </p:txBody>
      </p:sp>
      <p:sp>
        <p:nvSpPr>
          <p:cNvPr id="60" name="Google Shape;60;p23"/>
          <p:cNvSpPr txBox="1">
            <a:spLocks noGrp="1"/>
          </p:cNvSpPr>
          <p:nvPr>
            <p:ph type="sldNum" idx="12"/>
          </p:nvPr>
        </p:nvSpPr>
        <p:spPr>
          <a:xfrm>
            <a:off x="8458200" y="4850606"/>
            <a:ext cx="533400" cy="292894"/>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496992-4452-E304-7EF0-3D517E80088A}"/>
              </a:ext>
            </a:extLst>
          </p:cNvPr>
          <p:cNvSpPr>
            <a:spLocks noGrp="1"/>
          </p:cNvSpPr>
          <p:nvPr>
            <p:ph type="title"/>
          </p:nvPr>
        </p:nvSpPr>
        <p:spPr/>
        <p:txBody>
          <a:bodyPr/>
          <a:lstStyle/>
          <a:p>
            <a:r>
              <a:rPr lang="en-US" sz="3200" dirty="0"/>
              <a:t>What is </a:t>
            </a:r>
            <a:r>
              <a:rPr lang="en-US" sz="3200" dirty="0" err="1"/>
              <a:t>Tensorflow</a:t>
            </a:r>
            <a:endParaRPr lang="en-IN" dirty="0"/>
          </a:p>
        </p:txBody>
      </p:sp>
      <p:sp>
        <p:nvSpPr>
          <p:cNvPr id="3" name="Text Placeholder 2">
            <a:extLst>
              <a:ext uri="{FF2B5EF4-FFF2-40B4-BE49-F238E27FC236}">
                <a16:creationId xmlns:a16="http://schemas.microsoft.com/office/drawing/2014/main" id="{E78F8088-EBB2-8ECC-4EAB-2170865D3680}"/>
              </a:ext>
            </a:extLst>
          </p:cNvPr>
          <p:cNvSpPr>
            <a:spLocks noGrp="1"/>
          </p:cNvSpPr>
          <p:nvPr>
            <p:ph type="body" idx="1"/>
          </p:nvPr>
        </p:nvSpPr>
        <p:spPr/>
        <p:txBody>
          <a:bodyPr>
            <a:normAutofit/>
          </a:bodyPr>
          <a:lstStyle/>
          <a:p>
            <a:r>
              <a:rPr lang="en-US" sz="1600" b="0" i="0" dirty="0">
                <a:solidFill>
                  <a:srgbClr val="374151"/>
                </a:solidFill>
                <a:effectLst/>
                <a:latin typeface="Calibri" panose="020F0502020204030204" pitchFamily="34" charset="0"/>
                <a:cs typeface="Calibri" panose="020F0502020204030204" pitchFamily="34" charset="0"/>
              </a:rPr>
              <a:t>TensorFlow also provides a variety of tools and libraries</a:t>
            </a:r>
          </a:p>
          <a:p>
            <a:pPr marL="114300" indent="0">
              <a:buNone/>
            </a:pPr>
            <a:r>
              <a:rPr lang="en-US" sz="1600" b="0" i="0" dirty="0">
                <a:solidFill>
                  <a:srgbClr val="374151"/>
                </a:solidFill>
                <a:effectLst/>
                <a:latin typeface="Calibri" panose="020F0502020204030204" pitchFamily="34" charset="0"/>
                <a:cs typeface="Calibri" panose="020F0502020204030204" pitchFamily="34" charset="0"/>
              </a:rPr>
              <a:t> for tasks such as data preprocessing, visualization, and</a:t>
            </a:r>
          </a:p>
          <a:p>
            <a:pPr marL="114300" indent="0">
              <a:buNone/>
            </a:pPr>
            <a:r>
              <a:rPr lang="en-US" sz="1600" b="0" i="0" dirty="0">
                <a:solidFill>
                  <a:srgbClr val="374151"/>
                </a:solidFill>
                <a:effectLst/>
                <a:latin typeface="Calibri" panose="020F0502020204030204" pitchFamily="34" charset="0"/>
                <a:cs typeface="Calibri" panose="020F0502020204030204" pitchFamily="34" charset="0"/>
              </a:rPr>
              <a:t> evaluation of machine learning models. These tools </a:t>
            </a:r>
          </a:p>
          <a:p>
            <a:pPr marL="114300" indent="0">
              <a:buNone/>
            </a:pPr>
            <a:r>
              <a:rPr lang="en-US" sz="1600" b="0" i="0" dirty="0">
                <a:solidFill>
                  <a:srgbClr val="374151"/>
                </a:solidFill>
                <a:effectLst/>
                <a:latin typeface="Calibri" panose="020F0502020204030204" pitchFamily="34" charset="0"/>
                <a:cs typeface="Calibri" panose="020F0502020204030204" pitchFamily="34" charset="0"/>
              </a:rPr>
              <a:t>include the TensorFlow Data API, TensorFlow Estimators, </a:t>
            </a:r>
          </a:p>
          <a:p>
            <a:pPr marL="114300" indent="0">
              <a:buNone/>
            </a:pPr>
            <a:r>
              <a:rPr lang="en-US" sz="1600" b="0" i="0" dirty="0">
                <a:solidFill>
                  <a:srgbClr val="374151"/>
                </a:solidFill>
                <a:effectLst/>
                <a:latin typeface="Calibri" panose="020F0502020204030204" pitchFamily="34" charset="0"/>
                <a:cs typeface="Calibri" panose="020F0502020204030204" pitchFamily="34" charset="0"/>
              </a:rPr>
              <a:t>and TensorFlow Serving, among others.</a:t>
            </a:r>
          </a:p>
          <a:p>
            <a:r>
              <a:rPr lang="en-US" sz="1600" dirty="0">
                <a:solidFill>
                  <a:srgbClr val="374151"/>
                </a:solidFill>
                <a:latin typeface="Calibri" panose="020F0502020204030204" pitchFamily="34" charset="0"/>
                <a:cs typeface="Calibri" panose="020F0502020204030204" pitchFamily="34" charset="0"/>
              </a:rPr>
              <a:t>Overall, TensorFlow is a powerful and flexible platform </a:t>
            </a:r>
          </a:p>
          <a:p>
            <a:pPr marL="114300" indent="0">
              <a:buNone/>
            </a:pPr>
            <a:r>
              <a:rPr lang="en-US" sz="1600" dirty="0">
                <a:solidFill>
                  <a:srgbClr val="374151"/>
                </a:solidFill>
                <a:latin typeface="Calibri" panose="020F0502020204030204" pitchFamily="34" charset="0"/>
                <a:cs typeface="Calibri" panose="020F0502020204030204" pitchFamily="34" charset="0"/>
              </a:rPr>
              <a:t>for building and deploying machine learning models at</a:t>
            </a:r>
          </a:p>
          <a:p>
            <a:pPr marL="114300" indent="0">
              <a:buNone/>
            </a:pPr>
            <a:r>
              <a:rPr lang="en-US" sz="1600" dirty="0">
                <a:solidFill>
                  <a:srgbClr val="374151"/>
                </a:solidFill>
                <a:latin typeface="Calibri" panose="020F0502020204030204" pitchFamily="34" charset="0"/>
                <a:cs typeface="Calibri" panose="020F0502020204030204" pitchFamily="34" charset="0"/>
              </a:rPr>
              <a:t> scale. It is widely used in research and industry and has a large and active community of users and developers.</a:t>
            </a:r>
            <a:endParaRPr lang="en-IN" sz="1600" dirty="0">
              <a:solidFill>
                <a:srgbClr val="374151"/>
              </a:solidFill>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452B3C3-54ED-1C46-CF10-310D53C8030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3</a:t>
            </a:fld>
            <a:endParaRPr lang="en-US"/>
          </a:p>
        </p:txBody>
      </p:sp>
      <p:pic>
        <p:nvPicPr>
          <p:cNvPr id="6" name="Picture 5">
            <a:extLst>
              <a:ext uri="{FF2B5EF4-FFF2-40B4-BE49-F238E27FC236}">
                <a16:creationId xmlns:a16="http://schemas.microsoft.com/office/drawing/2014/main" id="{2D90F31F-3A44-CFB7-549E-BD074D273ED5}"/>
              </a:ext>
            </a:extLst>
          </p:cNvPr>
          <p:cNvPicPr>
            <a:picLocks noChangeAspect="1"/>
          </p:cNvPicPr>
          <p:nvPr/>
        </p:nvPicPr>
        <p:blipFill>
          <a:blip r:embed="rId2"/>
          <a:stretch>
            <a:fillRect/>
          </a:stretch>
        </p:blipFill>
        <p:spPr>
          <a:xfrm>
            <a:off x="5959098" y="743919"/>
            <a:ext cx="3103536" cy="3864865"/>
          </a:xfrm>
          <a:prstGeom prst="rect">
            <a:avLst/>
          </a:prstGeom>
        </p:spPr>
      </p:pic>
    </p:spTree>
    <p:extLst>
      <p:ext uri="{BB962C8B-B14F-4D97-AF65-F5344CB8AC3E}">
        <p14:creationId xmlns:p14="http://schemas.microsoft.com/office/powerpoint/2010/main" val="18851082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3B1A9-F579-B7F5-2897-16C6094DCC50}"/>
              </a:ext>
            </a:extLst>
          </p:cNvPr>
          <p:cNvSpPr>
            <a:spLocks noGrp="1"/>
          </p:cNvSpPr>
          <p:nvPr>
            <p:ph type="title"/>
          </p:nvPr>
        </p:nvSpPr>
        <p:spPr/>
        <p:txBody>
          <a:bodyPr/>
          <a:lstStyle/>
          <a:p>
            <a:r>
              <a:rPr lang="en-IN" dirty="0"/>
              <a:t>TensorFlow Modules</a:t>
            </a:r>
          </a:p>
        </p:txBody>
      </p:sp>
      <p:sp>
        <p:nvSpPr>
          <p:cNvPr id="3" name="Text Placeholder 2">
            <a:extLst>
              <a:ext uri="{FF2B5EF4-FFF2-40B4-BE49-F238E27FC236}">
                <a16:creationId xmlns:a16="http://schemas.microsoft.com/office/drawing/2014/main" id="{EDC21F5A-EBA8-A093-89FF-3A7056509027}"/>
              </a:ext>
            </a:extLst>
          </p:cNvPr>
          <p:cNvSpPr>
            <a:spLocks noGrp="1"/>
          </p:cNvSpPr>
          <p:nvPr>
            <p:ph type="body" idx="1"/>
          </p:nvPr>
        </p:nvSpPr>
        <p:spPr/>
        <p:txBody>
          <a:bodyPr>
            <a:normAutofit/>
          </a:bodyPr>
          <a:lstStyle/>
          <a:p>
            <a:pPr marL="114300" indent="0">
              <a:buNone/>
            </a:pPr>
            <a:r>
              <a:rPr lang="en-US" sz="1600" b="0" i="0" dirty="0">
                <a:solidFill>
                  <a:srgbClr val="374151"/>
                </a:solidFill>
                <a:effectLst/>
                <a:latin typeface="Calibri" panose="020F0502020204030204" pitchFamily="34" charset="0"/>
                <a:cs typeface="Calibri" panose="020F0502020204030204" pitchFamily="34" charset="0"/>
              </a:rPr>
              <a:t>The TensorFlow library includes a range of modules that can be used to perform various tasks in machine learning and deep learning. Some examples of TensorFlow modules include:</a:t>
            </a:r>
          </a:p>
          <a:p>
            <a:r>
              <a:rPr lang="en-US" sz="1600" b="1" i="0" dirty="0">
                <a:solidFill>
                  <a:srgbClr val="374151"/>
                </a:solidFill>
                <a:effectLst/>
                <a:latin typeface="Söhne"/>
              </a:rPr>
              <a:t>tf.keras</a:t>
            </a:r>
            <a:r>
              <a:rPr lang="en-US" sz="1600" b="0" i="0" dirty="0">
                <a:solidFill>
                  <a:srgbClr val="374151"/>
                </a:solidFill>
                <a:effectLst/>
                <a:latin typeface="Söhne"/>
              </a:rPr>
              <a:t>: This module provides high-level APIs for building and training machine learning models using the Keras API.</a:t>
            </a:r>
          </a:p>
          <a:p>
            <a:r>
              <a:rPr lang="en-US" sz="1600" b="1" i="0" dirty="0">
                <a:solidFill>
                  <a:srgbClr val="374151"/>
                </a:solidFill>
                <a:effectLst/>
                <a:latin typeface="Söhne"/>
              </a:rPr>
              <a:t>tf.data</a:t>
            </a:r>
            <a:r>
              <a:rPr lang="en-US" sz="1600" b="0" i="0" dirty="0">
                <a:solidFill>
                  <a:srgbClr val="374151"/>
                </a:solidFill>
                <a:effectLst/>
                <a:latin typeface="Söhne"/>
              </a:rPr>
              <a:t>: This module provides tools for building efficient data pipelines for feeding data to machine learning models.</a:t>
            </a:r>
            <a:r>
              <a:rPr lang="en-US" sz="1050" b="0" i="0" dirty="0">
                <a:solidFill>
                  <a:srgbClr val="374151"/>
                </a:solidFill>
                <a:effectLst/>
                <a:latin typeface="Söhne"/>
              </a:rPr>
              <a:t> </a:t>
            </a:r>
            <a:r>
              <a:rPr lang="en-US" sz="1600" dirty="0">
                <a:solidFill>
                  <a:srgbClr val="374151"/>
                </a:solidFill>
                <a:latin typeface="Söhne"/>
              </a:rPr>
              <a:t>few examples of how you can use ‘</a:t>
            </a:r>
            <a:r>
              <a:rPr lang="en-US" sz="1600" b="1" dirty="0">
                <a:solidFill>
                  <a:srgbClr val="374151"/>
                </a:solidFill>
                <a:latin typeface="Söhne"/>
              </a:rPr>
              <a:t>tf.data</a:t>
            </a:r>
            <a:r>
              <a:rPr lang="en-US" sz="1600" dirty="0">
                <a:solidFill>
                  <a:srgbClr val="374151"/>
                </a:solidFill>
                <a:latin typeface="Söhne"/>
              </a:rPr>
              <a:t>’</a:t>
            </a:r>
          </a:p>
          <a:p>
            <a:pPr marL="114300" indent="0">
              <a:buNone/>
            </a:pPr>
            <a:r>
              <a:rPr lang="en-US" sz="1600" b="0" i="0" dirty="0">
                <a:solidFill>
                  <a:srgbClr val="374151"/>
                </a:solidFill>
                <a:effectLst/>
                <a:latin typeface="Söhne"/>
              </a:rPr>
              <a:t>	</a:t>
            </a:r>
            <a:r>
              <a:rPr lang="en-IN" sz="1400" b="1" i="0" dirty="0">
                <a:solidFill>
                  <a:srgbClr val="111827"/>
                </a:solidFill>
                <a:effectLst/>
                <a:latin typeface="Söhne Mono"/>
              </a:rPr>
              <a:t>tf.data.TextLineDataset</a:t>
            </a:r>
            <a:r>
              <a:rPr lang="en-US" sz="1400" b="1" i="0" dirty="0">
                <a:solidFill>
                  <a:srgbClr val="374151"/>
                </a:solidFill>
                <a:effectLst/>
                <a:latin typeface="Söhne"/>
              </a:rPr>
              <a:t>: </a:t>
            </a:r>
            <a:r>
              <a:rPr lang="en-US" sz="1400" b="0" i="0" dirty="0">
                <a:solidFill>
                  <a:srgbClr val="374151"/>
                </a:solidFill>
                <a:effectLst/>
                <a:latin typeface="Söhne"/>
              </a:rPr>
              <a:t>read lines of text from one or more files</a:t>
            </a:r>
          </a:p>
          <a:p>
            <a:pPr marL="114300" indent="0">
              <a:buNone/>
            </a:pPr>
            <a:r>
              <a:rPr lang="en-US" sz="1400" b="0" i="0" dirty="0">
                <a:solidFill>
                  <a:srgbClr val="374151"/>
                </a:solidFill>
                <a:effectLst/>
                <a:latin typeface="Söhne"/>
              </a:rPr>
              <a:t>	</a:t>
            </a:r>
            <a:r>
              <a:rPr lang="en-IN" sz="1400" b="1" i="0" dirty="0">
                <a:solidFill>
                  <a:srgbClr val="111827"/>
                </a:solidFill>
                <a:effectLst/>
                <a:latin typeface="Söhne Mono"/>
              </a:rPr>
              <a:t>tf.data.TFRecordDataset: </a:t>
            </a:r>
            <a:r>
              <a:rPr lang="en-US" sz="1400" b="0" i="0" dirty="0">
                <a:solidFill>
                  <a:srgbClr val="374151"/>
                </a:solidFill>
                <a:effectLst/>
                <a:latin typeface="Söhne"/>
              </a:rPr>
              <a:t>read binary records written using TensorFlow’s ‘</a:t>
            </a:r>
            <a:r>
              <a:rPr lang="en-IN" sz="1400" b="1" i="0" dirty="0">
                <a:solidFill>
                  <a:srgbClr val="111827"/>
                </a:solidFill>
                <a:effectLst/>
                <a:latin typeface="Söhne Mono"/>
              </a:rPr>
              <a:t>tf.io.TFRecord</a:t>
            </a:r>
            <a:r>
              <a:rPr lang="en-US" sz="1400" b="0" i="0" dirty="0">
                <a:solidFill>
                  <a:srgbClr val="374151"/>
                </a:solidFill>
                <a:effectLst/>
                <a:latin typeface="Söhne"/>
              </a:rPr>
              <a:t>’ format</a:t>
            </a:r>
          </a:p>
          <a:p>
            <a:pPr marL="114300" indent="0">
              <a:buNone/>
            </a:pPr>
            <a:r>
              <a:rPr lang="en-US" sz="1400" b="0" i="0" dirty="0">
                <a:solidFill>
                  <a:srgbClr val="374151"/>
                </a:solidFill>
                <a:effectLst/>
                <a:latin typeface="Söhne"/>
              </a:rPr>
              <a:t>	Preprocessing data: You can use the ‘map’,’ batch’, and ‘shuffle’ methods to apply 	transformations to the data, such as parsing, tokenization, and batching.</a:t>
            </a:r>
          </a:p>
          <a:p>
            <a:endParaRPr lang="en-US" sz="1400" b="0" i="0" dirty="0">
              <a:solidFill>
                <a:srgbClr val="374151"/>
              </a:solidFill>
              <a:effectLst/>
              <a:latin typeface="Söhne"/>
            </a:endParaRPr>
          </a:p>
          <a:p>
            <a:endParaRPr lang="en-IN" sz="1600" dirty="0">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9839AB6-37E8-A215-F8C1-4FF179A7983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34314999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EC0C5-5AD4-E793-5019-BDD81FD0B9E8}"/>
              </a:ext>
            </a:extLst>
          </p:cNvPr>
          <p:cNvSpPr>
            <a:spLocks noGrp="1"/>
          </p:cNvSpPr>
          <p:nvPr>
            <p:ph type="title"/>
          </p:nvPr>
        </p:nvSpPr>
        <p:spPr/>
        <p:txBody>
          <a:bodyPr/>
          <a:lstStyle/>
          <a:p>
            <a:r>
              <a:rPr lang="en-IN" dirty="0"/>
              <a:t>TensorFlow Modules</a:t>
            </a:r>
          </a:p>
        </p:txBody>
      </p:sp>
      <p:sp>
        <p:nvSpPr>
          <p:cNvPr id="3" name="Text Placeholder 2">
            <a:extLst>
              <a:ext uri="{FF2B5EF4-FFF2-40B4-BE49-F238E27FC236}">
                <a16:creationId xmlns:a16="http://schemas.microsoft.com/office/drawing/2014/main" id="{F53ED03B-246F-9DEA-A3B1-9973064C5C74}"/>
              </a:ext>
            </a:extLst>
          </p:cNvPr>
          <p:cNvSpPr>
            <a:spLocks noGrp="1"/>
          </p:cNvSpPr>
          <p:nvPr>
            <p:ph type="body" idx="1"/>
          </p:nvPr>
        </p:nvSpPr>
        <p:spPr/>
        <p:txBody>
          <a:bodyPr/>
          <a:lstStyle/>
          <a:p>
            <a:r>
              <a:rPr lang="en-US" sz="1600" b="1" i="0" dirty="0" err="1">
                <a:solidFill>
                  <a:srgbClr val="374151"/>
                </a:solidFill>
                <a:effectLst/>
                <a:latin typeface="Söhne"/>
              </a:rPr>
              <a:t>tf.estimator</a:t>
            </a:r>
            <a:r>
              <a:rPr lang="en-US" sz="1600" b="0" i="0" dirty="0">
                <a:solidFill>
                  <a:srgbClr val="374151"/>
                </a:solidFill>
                <a:effectLst/>
                <a:latin typeface="Söhne"/>
              </a:rPr>
              <a:t>: This module provides a high-level API for training and evaluating machine learning models. Estimators are built on top of the lower-level TensorFlow API and provide a higher-level interface for working with TensorFlow models so you can focus on the overall design and strategy of your model.</a:t>
            </a:r>
          </a:p>
          <a:p>
            <a:r>
              <a:rPr lang="en-US" sz="1600" b="1" i="0" dirty="0" err="1">
                <a:solidFill>
                  <a:srgbClr val="374151"/>
                </a:solidFill>
                <a:effectLst/>
                <a:latin typeface="Söhne"/>
              </a:rPr>
              <a:t>tf.layers</a:t>
            </a:r>
            <a:r>
              <a:rPr lang="en-US" sz="1600" b="0" i="0" dirty="0">
                <a:solidFill>
                  <a:srgbClr val="374151"/>
                </a:solidFill>
                <a:effectLst/>
                <a:latin typeface="Söhne"/>
              </a:rPr>
              <a:t>: This module provides a set of predefined neural network layers that can be used to build machine learning models.</a:t>
            </a:r>
          </a:p>
          <a:p>
            <a:pPr marL="114300" indent="0" algn="l">
              <a:buNone/>
            </a:pPr>
            <a:r>
              <a:rPr lang="en-US" sz="1400" b="1" i="0" dirty="0">
                <a:solidFill>
                  <a:srgbClr val="374151"/>
                </a:solidFill>
                <a:effectLst/>
                <a:latin typeface="Söhne"/>
              </a:rPr>
              <a:t>	Dense layers</a:t>
            </a:r>
            <a:r>
              <a:rPr lang="en-US" sz="1400" b="0" i="0" dirty="0">
                <a:solidFill>
                  <a:srgbClr val="374151"/>
                </a:solidFill>
                <a:effectLst/>
                <a:latin typeface="Söhne"/>
              </a:rPr>
              <a:t>: Also known as fully-connected layers, dense layers connect all of the inputs in the 	layer to all of the outputs in the layer.</a:t>
            </a:r>
          </a:p>
          <a:p>
            <a:pPr marL="114300" indent="0" algn="l">
              <a:buNone/>
            </a:pPr>
            <a:r>
              <a:rPr lang="en-US" sz="1400" b="1" i="0" dirty="0">
                <a:solidFill>
                  <a:srgbClr val="374151"/>
                </a:solidFill>
                <a:effectLst/>
                <a:latin typeface="Söhne"/>
              </a:rPr>
              <a:t>	Convolutional layers</a:t>
            </a:r>
            <a:r>
              <a:rPr lang="en-US" sz="1400" b="0" i="0" dirty="0">
                <a:solidFill>
                  <a:srgbClr val="374151"/>
                </a:solidFill>
                <a:effectLst/>
                <a:latin typeface="Söhne"/>
              </a:rPr>
              <a:t>: These layers are used for processing data with a grid-like topology, such as 	images. They apply a set of filters to the input data to extract features.</a:t>
            </a:r>
          </a:p>
          <a:p>
            <a:pPr marL="114300" indent="0">
              <a:buNone/>
            </a:pPr>
            <a:r>
              <a:rPr lang="en-US" sz="1400" dirty="0">
                <a:solidFill>
                  <a:srgbClr val="374151"/>
                </a:solidFill>
                <a:latin typeface="Söhne"/>
              </a:rPr>
              <a:t>	</a:t>
            </a:r>
            <a:r>
              <a:rPr lang="en-US" sz="1400" b="1" i="0" dirty="0">
                <a:solidFill>
                  <a:srgbClr val="374151"/>
                </a:solidFill>
                <a:effectLst/>
                <a:latin typeface="Söhne"/>
              </a:rPr>
              <a:t>Pooling layers</a:t>
            </a:r>
            <a:r>
              <a:rPr lang="en-US" sz="1400" b="0" i="0" dirty="0">
                <a:solidFill>
                  <a:srgbClr val="374151"/>
                </a:solidFill>
                <a:effectLst/>
                <a:latin typeface="Söhne"/>
              </a:rPr>
              <a:t>: Pooling layers subsample the input data and reduce its dimensionality. This can 	help to reduce overfitting and improve the performance of the model.</a:t>
            </a:r>
          </a:p>
          <a:p>
            <a:pPr marL="114300" indent="0" algn="l">
              <a:buNone/>
            </a:pPr>
            <a:endParaRPr lang="en-US" sz="1400" b="0" i="0" dirty="0">
              <a:solidFill>
                <a:srgbClr val="374151"/>
              </a:solidFill>
              <a:effectLst/>
              <a:latin typeface="Söhne"/>
            </a:endParaRPr>
          </a:p>
          <a:p>
            <a:pPr lvl="1"/>
            <a:endParaRPr lang="en-US" sz="1200" b="0" i="0" dirty="0">
              <a:solidFill>
                <a:srgbClr val="374151"/>
              </a:solidFill>
              <a:effectLst/>
              <a:latin typeface="Söhne"/>
            </a:endParaRPr>
          </a:p>
          <a:p>
            <a:endParaRPr lang="en-IN" dirty="0"/>
          </a:p>
        </p:txBody>
      </p:sp>
      <p:sp>
        <p:nvSpPr>
          <p:cNvPr id="4" name="Slide Number Placeholder 3">
            <a:extLst>
              <a:ext uri="{FF2B5EF4-FFF2-40B4-BE49-F238E27FC236}">
                <a16:creationId xmlns:a16="http://schemas.microsoft.com/office/drawing/2014/main" id="{0D615ACC-88A7-9F35-37EA-22DAE41196E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extLst>
      <p:ext uri="{BB962C8B-B14F-4D97-AF65-F5344CB8AC3E}">
        <p14:creationId xmlns:p14="http://schemas.microsoft.com/office/powerpoint/2010/main" val="4759796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30DCC-78BE-4AB9-D10D-58E214A0C7CB}"/>
              </a:ext>
            </a:extLst>
          </p:cNvPr>
          <p:cNvSpPr>
            <a:spLocks noGrp="1"/>
          </p:cNvSpPr>
          <p:nvPr>
            <p:ph type="title"/>
          </p:nvPr>
        </p:nvSpPr>
        <p:spPr/>
        <p:txBody>
          <a:bodyPr/>
          <a:lstStyle/>
          <a:p>
            <a:r>
              <a:rPr lang="en-IN" dirty="0"/>
              <a:t>TensorFlow Modules</a:t>
            </a:r>
          </a:p>
        </p:txBody>
      </p:sp>
      <p:sp>
        <p:nvSpPr>
          <p:cNvPr id="3" name="Text Placeholder 2">
            <a:extLst>
              <a:ext uri="{FF2B5EF4-FFF2-40B4-BE49-F238E27FC236}">
                <a16:creationId xmlns:a16="http://schemas.microsoft.com/office/drawing/2014/main" id="{AC3D7580-C2E1-9848-0EC4-CF1E7120E4BF}"/>
              </a:ext>
            </a:extLst>
          </p:cNvPr>
          <p:cNvSpPr>
            <a:spLocks noGrp="1"/>
          </p:cNvSpPr>
          <p:nvPr>
            <p:ph type="body" idx="1"/>
          </p:nvPr>
        </p:nvSpPr>
        <p:spPr/>
        <p:txBody>
          <a:bodyPr>
            <a:normAutofit/>
          </a:bodyPr>
          <a:lstStyle/>
          <a:p>
            <a:pPr algn="l">
              <a:buFont typeface="Arial" panose="020B0604020202020204" pitchFamily="34" charset="0"/>
              <a:buChar char="•"/>
            </a:pPr>
            <a:r>
              <a:rPr lang="en-US" sz="1600" b="1" i="0" dirty="0">
                <a:solidFill>
                  <a:srgbClr val="374151"/>
                </a:solidFill>
                <a:effectLst/>
                <a:latin typeface="Söhne"/>
              </a:rPr>
              <a:t>Recurrent layers</a:t>
            </a:r>
            <a:r>
              <a:rPr lang="en-US" sz="1600" b="0" i="0" dirty="0">
                <a:solidFill>
                  <a:srgbClr val="374151"/>
                </a:solidFill>
                <a:effectLst/>
                <a:latin typeface="Söhne"/>
              </a:rPr>
              <a:t>: These layers are used for processing sequential data, such as time series or natural language. They maintain a state that is updated at each timestep and allow the model to consider the context of previous timesteps when processing the current timestep.</a:t>
            </a:r>
          </a:p>
          <a:p>
            <a:pPr algn="l">
              <a:buFont typeface="Arial" panose="020B0604020202020204" pitchFamily="34" charset="0"/>
              <a:buChar char="•"/>
            </a:pPr>
            <a:r>
              <a:rPr lang="en-US" sz="1600" b="1" i="0" dirty="0">
                <a:solidFill>
                  <a:srgbClr val="374151"/>
                </a:solidFill>
                <a:effectLst/>
                <a:latin typeface="Söhne"/>
              </a:rPr>
              <a:t>Dropout layers</a:t>
            </a:r>
            <a:r>
              <a:rPr lang="en-US" sz="1600" b="0" i="0" dirty="0">
                <a:solidFill>
                  <a:srgbClr val="374151"/>
                </a:solidFill>
                <a:effectLst/>
                <a:latin typeface="Söhne"/>
              </a:rPr>
              <a:t>: Dropout is a regularization technique that randomly sets a fraction of the inputs to zero during training. Dropout layers implement this technique in TensorFlow models.</a:t>
            </a:r>
          </a:p>
          <a:p>
            <a:pPr algn="l">
              <a:buFont typeface="Arial" panose="020B0604020202020204" pitchFamily="34" charset="0"/>
              <a:buChar char="•"/>
            </a:pPr>
            <a:r>
              <a:rPr lang="en-US" sz="1600" b="1" i="0" dirty="0">
                <a:solidFill>
                  <a:srgbClr val="374151"/>
                </a:solidFill>
                <a:effectLst/>
                <a:latin typeface="Söhne"/>
              </a:rPr>
              <a:t>Batch normalization layers</a:t>
            </a:r>
            <a:r>
              <a:rPr lang="en-US" sz="1600" b="0" i="0" dirty="0">
                <a:solidFill>
                  <a:srgbClr val="374151"/>
                </a:solidFill>
                <a:effectLst/>
                <a:latin typeface="Söhne"/>
              </a:rPr>
              <a:t>: Batch normalization is a technique that normalizes the inputs within a batch to have zero mean and unit variance. This can help to improve the performance and stability of the model.</a:t>
            </a:r>
          </a:p>
          <a:p>
            <a:pPr algn="l">
              <a:buFont typeface="Arial" panose="020B0604020202020204" pitchFamily="34" charset="0"/>
              <a:buChar char="•"/>
            </a:pPr>
            <a:r>
              <a:rPr lang="en-US" sz="1600" b="1" dirty="0">
                <a:solidFill>
                  <a:srgbClr val="374151"/>
                </a:solidFill>
                <a:latin typeface="Söhne"/>
              </a:rPr>
              <a:t>Flatten layers</a:t>
            </a:r>
            <a:r>
              <a:rPr lang="en-US" sz="1600" dirty="0">
                <a:solidFill>
                  <a:srgbClr val="374151"/>
                </a:solidFill>
                <a:latin typeface="Söhne"/>
              </a:rPr>
              <a:t>: These layers flatten multi-dimensional inputs into vectors.</a:t>
            </a:r>
          </a:p>
          <a:p>
            <a:pPr algn="l">
              <a:buFont typeface="Arial" panose="020B0604020202020204" pitchFamily="34" charset="0"/>
              <a:buChar char="•"/>
            </a:pPr>
            <a:r>
              <a:rPr lang="en-US" sz="1600" b="1" dirty="0">
                <a:solidFill>
                  <a:srgbClr val="374151"/>
                </a:solidFill>
                <a:latin typeface="Söhne"/>
              </a:rPr>
              <a:t>Reshape layers</a:t>
            </a:r>
            <a:r>
              <a:rPr lang="en-US" sz="1600" dirty="0">
                <a:solidFill>
                  <a:srgbClr val="374151"/>
                </a:solidFill>
                <a:latin typeface="Söhne"/>
              </a:rPr>
              <a:t>: These layers reshape the input tensors into a different shape</a:t>
            </a:r>
            <a:r>
              <a:rPr lang="en-US" sz="1400" dirty="0">
                <a:solidFill>
                  <a:srgbClr val="374151"/>
                </a:solidFill>
                <a:latin typeface="Söhne"/>
              </a:rPr>
              <a:t>.</a:t>
            </a:r>
          </a:p>
          <a:p>
            <a:pPr marL="114300" indent="0">
              <a:buNone/>
            </a:pPr>
            <a:endParaRPr lang="en-IN" dirty="0"/>
          </a:p>
        </p:txBody>
      </p:sp>
      <p:sp>
        <p:nvSpPr>
          <p:cNvPr id="4" name="Slide Number Placeholder 3">
            <a:extLst>
              <a:ext uri="{FF2B5EF4-FFF2-40B4-BE49-F238E27FC236}">
                <a16:creationId xmlns:a16="http://schemas.microsoft.com/office/drawing/2014/main" id="{E9CAC739-5A3C-9F59-570E-C554B5EC172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a:p>
        </p:txBody>
      </p:sp>
    </p:spTree>
    <p:extLst>
      <p:ext uri="{BB962C8B-B14F-4D97-AF65-F5344CB8AC3E}">
        <p14:creationId xmlns:p14="http://schemas.microsoft.com/office/powerpoint/2010/main" val="1887686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7EBE1-07D8-F14A-D5D5-914E4470785C}"/>
              </a:ext>
            </a:extLst>
          </p:cNvPr>
          <p:cNvSpPr>
            <a:spLocks noGrp="1"/>
          </p:cNvSpPr>
          <p:nvPr>
            <p:ph type="title"/>
          </p:nvPr>
        </p:nvSpPr>
        <p:spPr/>
        <p:txBody>
          <a:bodyPr/>
          <a:lstStyle/>
          <a:p>
            <a:r>
              <a:rPr lang="en-IN" dirty="0"/>
              <a:t>TensorFlow Modules</a:t>
            </a:r>
          </a:p>
        </p:txBody>
      </p:sp>
      <p:sp>
        <p:nvSpPr>
          <p:cNvPr id="3" name="Text Placeholder 2">
            <a:extLst>
              <a:ext uri="{FF2B5EF4-FFF2-40B4-BE49-F238E27FC236}">
                <a16:creationId xmlns:a16="http://schemas.microsoft.com/office/drawing/2014/main" id="{4A155C97-5CD5-E316-5F6E-3D023A22B3AD}"/>
              </a:ext>
            </a:extLst>
          </p:cNvPr>
          <p:cNvSpPr>
            <a:spLocks noGrp="1"/>
          </p:cNvSpPr>
          <p:nvPr>
            <p:ph type="body" idx="1"/>
          </p:nvPr>
        </p:nvSpPr>
        <p:spPr/>
        <p:txBody>
          <a:bodyPr/>
          <a:lstStyle/>
          <a:p>
            <a:r>
              <a:rPr lang="en-US" sz="1600" b="1" i="0" dirty="0">
                <a:solidFill>
                  <a:srgbClr val="374151"/>
                </a:solidFill>
                <a:effectLst/>
                <a:latin typeface="Söhne"/>
              </a:rPr>
              <a:t>tf.losses</a:t>
            </a:r>
            <a:r>
              <a:rPr lang="en-US" sz="1600" b="0" i="0" dirty="0">
                <a:solidFill>
                  <a:srgbClr val="374151"/>
                </a:solidFill>
                <a:effectLst/>
                <a:latin typeface="Söhne"/>
              </a:rPr>
              <a:t>: This module provides a set of predefined loss functions that can be used to train machine learning models. Some of the losses are :</a:t>
            </a:r>
          </a:p>
          <a:p>
            <a:pPr marL="114300" indent="0" algn="l">
              <a:buNone/>
            </a:pPr>
            <a:r>
              <a:rPr lang="en-US" sz="1400" b="1" i="0" dirty="0">
                <a:solidFill>
                  <a:srgbClr val="374151"/>
                </a:solidFill>
                <a:effectLst/>
                <a:latin typeface="Söhne"/>
              </a:rPr>
              <a:t>	Mean squared error (MSE)</a:t>
            </a:r>
            <a:r>
              <a:rPr lang="en-US" sz="1400" b="0" i="0" dirty="0">
                <a:solidFill>
                  <a:srgbClr val="374151"/>
                </a:solidFill>
                <a:effectLst/>
                <a:latin typeface="Söhne"/>
              </a:rPr>
              <a:t>: This loss function is commonly used for regression tasks. It computes 	the mean squared difference between the predicted and ground truth values.</a:t>
            </a:r>
          </a:p>
          <a:p>
            <a:pPr marL="114300" indent="0" algn="l">
              <a:buNone/>
            </a:pPr>
            <a:r>
              <a:rPr lang="en-US" sz="1400" b="1" i="0" dirty="0">
                <a:solidFill>
                  <a:srgbClr val="374151"/>
                </a:solidFill>
                <a:effectLst/>
                <a:latin typeface="Söhne"/>
              </a:rPr>
              <a:t>	Cross-entropy loss</a:t>
            </a:r>
            <a:r>
              <a:rPr lang="en-US" sz="1400" b="0" i="0" dirty="0">
                <a:solidFill>
                  <a:srgbClr val="374151"/>
                </a:solidFill>
                <a:effectLst/>
                <a:latin typeface="Söhne"/>
              </a:rPr>
              <a:t>: This loss function is commonly used for classification tasks. It measures the 	difference between the predicted class probabilities and the ground truth class labels.</a:t>
            </a:r>
          </a:p>
          <a:p>
            <a:pPr marL="114300" indent="0" algn="l">
              <a:buNone/>
            </a:pPr>
            <a:r>
              <a:rPr lang="en-US" sz="1400" b="1" i="0" dirty="0">
                <a:solidFill>
                  <a:srgbClr val="374151"/>
                </a:solidFill>
                <a:effectLst/>
                <a:latin typeface="Söhne"/>
              </a:rPr>
              <a:t>	Hinge loss</a:t>
            </a:r>
            <a:r>
              <a:rPr lang="en-US" sz="1400" b="0" i="0" dirty="0">
                <a:solidFill>
                  <a:srgbClr val="374151"/>
                </a:solidFill>
                <a:effectLst/>
                <a:latin typeface="Söhne"/>
              </a:rPr>
              <a:t>: This loss function is used for binary classification tasks and is often used with support 	vector machines (SVMs). It computes the loss based on the difference between the predicted class 	probabilities and the ground truth labels.</a:t>
            </a:r>
          </a:p>
          <a:p>
            <a:pPr marL="114300" indent="0" algn="l">
              <a:buNone/>
            </a:pPr>
            <a:r>
              <a:rPr lang="en-US" sz="1400" dirty="0">
                <a:solidFill>
                  <a:srgbClr val="374151"/>
                </a:solidFill>
                <a:latin typeface="Söhne"/>
              </a:rPr>
              <a:t>	</a:t>
            </a:r>
            <a:r>
              <a:rPr lang="en-US" sz="1400" b="1" dirty="0">
                <a:solidFill>
                  <a:srgbClr val="374151"/>
                </a:solidFill>
                <a:latin typeface="Söhne"/>
              </a:rPr>
              <a:t>Cosine similarity loss</a:t>
            </a:r>
            <a:r>
              <a:rPr lang="en-US" sz="1400" dirty="0">
                <a:solidFill>
                  <a:srgbClr val="374151"/>
                </a:solidFill>
                <a:latin typeface="Söhne"/>
              </a:rPr>
              <a:t>: This loss function is used for measuring the similarity between two vectors. 	It is often used for tasks such as word embedding and speaker verification.</a:t>
            </a:r>
          </a:p>
          <a:p>
            <a:pPr marL="114300" indent="0" algn="l">
              <a:buNone/>
            </a:pPr>
            <a:r>
              <a:rPr lang="en-US" sz="1400" dirty="0">
                <a:solidFill>
                  <a:srgbClr val="374151"/>
                </a:solidFill>
                <a:latin typeface="Söhne"/>
              </a:rPr>
              <a:t>	</a:t>
            </a:r>
            <a:r>
              <a:rPr lang="en-US" sz="1400" b="1" dirty="0">
                <a:solidFill>
                  <a:srgbClr val="374151"/>
                </a:solidFill>
                <a:latin typeface="Söhne"/>
              </a:rPr>
              <a:t>tf.losses.compute_weighted_loss</a:t>
            </a:r>
            <a:r>
              <a:rPr lang="en-US" sz="1400" dirty="0">
                <a:solidFill>
                  <a:srgbClr val="374151"/>
                </a:solidFill>
                <a:latin typeface="Söhne"/>
              </a:rPr>
              <a:t>: Used to define a custom loss function that computes the loss 	and a weight for each element in the loss</a:t>
            </a:r>
          </a:p>
          <a:p>
            <a:pPr lvl="1"/>
            <a:endParaRPr lang="en-US" sz="1200" b="0" i="0" dirty="0">
              <a:solidFill>
                <a:srgbClr val="374151"/>
              </a:solidFill>
              <a:effectLst/>
              <a:latin typeface="Söhne"/>
            </a:endParaRPr>
          </a:p>
          <a:p>
            <a:endParaRPr lang="en-IN" dirty="0"/>
          </a:p>
        </p:txBody>
      </p:sp>
      <p:sp>
        <p:nvSpPr>
          <p:cNvPr id="4" name="Slide Number Placeholder 3">
            <a:extLst>
              <a:ext uri="{FF2B5EF4-FFF2-40B4-BE49-F238E27FC236}">
                <a16:creationId xmlns:a16="http://schemas.microsoft.com/office/drawing/2014/main" id="{613AAE6E-BB89-9492-D1B1-E03B4506C8D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Tree>
    <p:extLst>
      <p:ext uri="{BB962C8B-B14F-4D97-AF65-F5344CB8AC3E}">
        <p14:creationId xmlns:p14="http://schemas.microsoft.com/office/powerpoint/2010/main" val="25233110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EB28-A1FA-5F31-F065-059DC1DEFF5C}"/>
              </a:ext>
            </a:extLst>
          </p:cNvPr>
          <p:cNvSpPr>
            <a:spLocks noGrp="1"/>
          </p:cNvSpPr>
          <p:nvPr>
            <p:ph type="title"/>
          </p:nvPr>
        </p:nvSpPr>
        <p:spPr/>
        <p:txBody>
          <a:bodyPr/>
          <a:lstStyle/>
          <a:p>
            <a:r>
              <a:rPr lang="en-IN" dirty="0"/>
              <a:t>TensorFlow Modules</a:t>
            </a:r>
          </a:p>
        </p:txBody>
      </p:sp>
      <p:sp>
        <p:nvSpPr>
          <p:cNvPr id="3" name="Text Placeholder 2">
            <a:extLst>
              <a:ext uri="{FF2B5EF4-FFF2-40B4-BE49-F238E27FC236}">
                <a16:creationId xmlns:a16="http://schemas.microsoft.com/office/drawing/2014/main" id="{03A055B8-10B3-1E82-3E9F-3434A4EC9363}"/>
              </a:ext>
            </a:extLst>
          </p:cNvPr>
          <p:cNvSpPr>
            <a:spLocks noGrp="1"/>
          </p:cNvSpPr>
          <p:nvPr>
            <p:ph type="body" idx="1"/>
          </p:nvPr>
        </p:nvSpPr>
        <p:spPr/>
        <p:txBody>
          <a:bodyPr>
            <a:normAutofit/>
          </a:bodyPr>
          <a:lstStyle/>
          <a:p>
            <a:r>
              <a:rPr lang="en-US" sz="1600" b="1" i="0" dirty="0" err="1">
                <a:solidFill>
                  <a:srgbClr val="374151"/>
                </a:solidFill>
                <a:effectLst/>
                <a:latin typeface="Söhne"/>
              </a:rPr>
              <a:t>tf.metrics</a:t>
            </a:r>
            <a:r>
              <a:rPr lang="en-US" sz="1600" b="0" i="0" dirty="0">
                <a:solidFill>
                  <a:srgbClr val="374151"/>
                </a:solidFill>
                <a:effectLst/>
                <a:latin typeface="Söhne"/>
              </a:rPr>
              <a:t>: This module provides a set of predefined metrics for evaluating the performance of machine learning models</a:t>
            </a:r>
            <a:r>
              <a:rPr lang="en-US" sz="1700" b="0" i="0" dirty="0">
                <a:solidFill>
                  <a:srgbClr val="374151"/>
                </a:solidFill>
                <a:effectLst/>
                <a:latin typeface="Söhne"/>
              </a:rPr>
              <a:t>. </a:t>
            </a:r>
            <a:r>
              <a:rPr lang="en-IN" sz="1600" dirty="0">
                <a:solidFill>
                  <a:srgbClr val="374151"/>
                </a:solidFill>
                <a:latin typeface="Söhne"/>
              </a:rPr>
              <a:t>Some common metrics include:</a:t>
            </a:r>
            <a:endParaRPr lang="en-US" sz="1600" dirty="0">
              <a:solidFill>
                <a:srgbClr val="374151"/>
              </a:solidFill>
              <a:latin typeface="Söhne"/>
            </a:endParaRPr>
          </a:p>
          <a:p>
            <a:pPr marL="571500" lvl="1" indent="0">
              <a:buNone/>
            </a:pPr>
            <a:r>
              <a:rPr lang="en-US" sz="1400" b="1" i="0" dirty="0">
                <a:effectLst/>
                <a:latin typeface="Söhne"/>
              </a:rPr>
              <a:t>	Accuracy</a:t>
            </a:r>
            <a:r>
              <a:rPr lang="en-US" sz="1400" b="0" i="0" dirty="0">
                <a:solidFill>
                  <a:srgbClr val="374151"/>
                </a:solidFill>
                <a:effectLst/>
                <a:latin typeface="Söhne"/>
              </a:rPr>
              <a:t>: This metric calculates the fraction of predictions that are correct. It is often used for 	classification tasks.</a:t>
            </a:r>
          </a:p>
          <a:p>
            <a:pPr marL="571500" lvl="1" indent="0">
              <a:buNone/>
            </a:pPr>
            <a:r>
              <a:rPr lang="en-US" sz="1400" b="1" dirty="0">
                <a:solidFill>
                  <a:srgbClr val="374151"/>
                </a:solidFill>
                <a:latin typeface="Söhne"/>
              </a:rPr>
              <a:t>	Precision</a:t>
            </a:r>
            <a:r>
              <a:rPr lang="en-US" sz="1400" dirty="0">
                <a:solidFill>
                  <a:srgbClr val="374151"/>
                </a:solidFill>
                <a:latin typeface="Söhne"/>
              </a:rPr>
              <a:t>: This metric measures the fraction of positive predictions that are correct. It is often 	used in conjunction with recall.</a:t>
            </a:r>
          </a:p>
          <a:p>
            <a:pPr marL="571500" lvl="1" indent="0">
              <a:buNone/>
            </a:pPr>
            <a:r>
              <a:rPr lang="en-US" sz="1400" b="1" dirty="0">
                <a:solidFill>
                  <a:srgbClr val="374151"/>
                </a:solidFill>
                <a:latin typeface="Söhne"/>
              </a:rPr>
              <a:t>	Recall</a:t>
            </a:r>
            <a:r>
              <a:rPr lang="en-US" sz="1400" dirty="0">
                <a:solidFill>
                  <a:srgbClr val="374151"/>
                </a:solidFill>
                <a:latin typeface="Söhne"/>
              </a:rPr>
              <a:t> This metric measures the fraction of actual positive instances that are correctly predicted as 	positive. It is often used in conjunction with precision.</a:t>
            </a:r>
          </a:p>
          <a:p>
            <a:pPr marL="571500" lvl="1" indent="0">
              <a:buNone/>
            </a:pPr>
            <a:r>
              <a:rPr lang="en-US" sz="1400" b="1" dirty="0">
                <a:solidFill>
                  <a:srgbClr val="374151"/>
                </a:solidFill>
                <a:latin typeface="Söhne"/>
              </a:rPr>
              <a:t>	AUC</a:t>
            </a:r>
            <a:r>
              <a:rPr lang="en-US" sz="1400" dirty="0">
                <a:solidFill>
                  <a:srgbClr val="374151"/>
                </a:solidFill>
                <a:latin typeface="Söhne"/>
              </a:rPr>
              <a:t>: This metric measures the area under the curve of a receiver operating characteristic (ROC) 	curve. It is often used for binary classification tasks.</a:t>
            </a:r>
          </a:p>
          <a:p>
            <a:pPr marL="571500" lvl="1" indent="0">
              <a:buNone/>
            </a:pPr>
            <a:r>
              <a:rPr lang="en-US" sz="1400" b="1" dirty="0">
                <a:solidFill>
                  <a:srgbClr val="374151"/>
                </a:solidFill>
                <a:latin typeface="Söhne"/>
              </a:rPr>
              <a:t>	F1 score</a:t>
            </a:r>
            <a:r>
              <a:rPr lang="en-US" sz="1400" dirty="0">
                <a:solidFill>
                  <a:srgbClr val="374151"/>
                </a:solidFill>
                <a:latin typeface="Söhne"/>
              </a:rPr>
              <a:t>: This metric is the harmonic mean of precision and recall. It is a good metric to use when 	you want to balance precision and recall.</a:t>
            </a:r>
            <a:endParaRPr lang="en-IN" sz="1400" dirty="0">
              <a:solidFill>
                <a:srgbClr val="374151"/>
              </a:solidFill>
              <a:latin typeface="Söhne"/>
            </a:endParaRPr>
          </a:p>
        </p:txBody>
      </p:sp>
      <p:sp>
        <p:nvSpPr>
          <p:cNvPr id="4" name="Slide Number Placeholder 3">
            <a:extLst>
              <a:ext uri="{FF2B5EF4-FFF2-40B4-BE49-F238E27FC236}">
                <a16:creationId xmlns:a16="http://schemas.microsoft.com/office/drawing/2014/main" id="{DB66DA5A-56E1-56DB-F5C1-94D3A8B553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spTree>
    <p:extLst>
      <p:ext uri="{BB962C8B-B14F-4D97-AF65-F5344CB8AC3E}">
        <p14:creationId xmlns:p14="http://schemas.microsoft.com/office/powerpoint/2010/main" val="38851281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80117C-E3DE-7D0D-8E28-FE9E61797BA3}"/>
              </a:ext>
            </a:extLst>
          </p:cNvPr>
          <p:cNvSpPr>
            <a:spLocks noGrp="1"/>
          </p:cNvSpPr>
          <p:nvPr>
            <p:ph type="title"/>
          </p:nvPr>
        </p:nvSpPr>
        <p:spPr/>
        <p:txBody>
          <a:bodyPr/>
          <a:lstStyle/>
          <a:p>
            <a:r>
              <a:rPr lang="en-IN" dirty="0"/>
              <a:t>TensorFlow Modules</a:t>
            </a:r>
          </a:p>
        </p:txBody>
      </p:sp>
      <p:sp>
        <p:nvSpPr>
          <p:cNvPr id="3" name="Text Placeholder 2">
            <a:extLst>
              <a:ext uri="{FF2B5EF4-FFF2-40B4-BE49-F238E27FC236}">
                <a16:creationId xmlns:a16="http://schemas.microsoft.com/office/drawing/2014/main" id="{CCDDD543-AA4A-70A5-C5E5-ED47B5C1F7AE}"/>
              </a:ext>
            </a:extLst>
          </p:cNvPr>
          <p:cNvSpPr>
            <a:spLocks noGrp="1"/>
          </p:cNvSpPr>
          <p:nvPr>
            <p:ph type="body" idx="1"/>
          </p:nvPr>
        </p:nvSpPr>
        <p:spPr/>
        <p:txBody>
          <a:bodyPr/>
          <a:lstStyle/>
          <a:p>
            <a:r>
              <a:rPr lang="en-US" sz="1600" b="0" i="0" dirty="0">
                <a:solidFill>
                  <a:srgbClr val="374151"/>
                </a:solidFill>
                <a:effectLst/>
                <a:latin typeface="Söhne"/>
              </a:rPr>
              <a:t>There are many other TensorFlow modules that can be used for various tasks in machine learning and deep learning. You can find more information about these modules in the TensorFlow documentation.</a:t>
            </a:r>
          </a:p>
          <a:p>
            <a:endParaRPr lang="en-IN" dirty="0"/>
          </a:p>
        </p:txBody>
      </p:sp>
      <p:sp>
        <p:nvSpPr>
          <p:cNvPr id="4" name="Slide Number Placeholder 3">
            <a:extLst>
              <a:ext uri="{FF2B5EF4-FFF2-40B4-BE49-F238E27FC236}">
                <a16:creationId xmlns:a16="http://schemas.microsoft.com/office/drawing/2014/main" id="{74C2687F-9432-970A-7FBF-D18D22364A0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Tree>
    <p:extLst>
      <p:ext uri="{BB962C8B-B14F-4D97-AF65-F5344CB8AC3E}">
        <p14:creationId xmlns:p14="http://schemas.microsoft.com/office/powerpoint/2010/main" val="15883357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C80C4-FA7A-0355-C429-D85E620C413E}"/>
              </a:ext>
            </a:extLst>
          </p:cNvPr>
          <p:cNvSpPr>
            <a:spLocks noGrp="1"/>
          </p:cNvSpPr>
          <p:nvPr>
            <p:ph type="title"/>
          </p:nvPr>
        </p:nvSpPr>
        <p:spPr/>
        <p:txBody>
          <a:bodyPr/>
          <a:lstStyle/>
          <a:p>
            <a:r>
              <a:rPr lang="en-IN" dirty="0"/>
              <a:t>Keras </a:t>
            </a:r>
          </a:p>
        </p:txBody>
      </p:sp>
      <p:sp>
        <p:nvSpPr>
          <p:cNvPr id="3" name="Text Placeholder 2">
            <a:extLst>
              <a:ext uri="{FF2B5EF4-FFF2-40B4-BE49-F238E27FC236}">
                <a16:creationId xmlns:a16="http://schemas.microsoft.com/office/drawing/2014/main" id="{A6AC1A15-807D-80AB-5B40-8302BF5CA794}"/>
              </a:ext>
            </a:extLst>
          </p:cNvPr>
          <p:cNvSpPr>
            <a:spLocks noGrp="1"/>
          </p:cNvSpPr>
          <p:nvPr>
            <p:ph type="body" idx="1"/>
          </p:nvPr>
        </p:nvSpPr>
        <p:spPr/>
        <p:txBody>
          <a:bodyPr>
            <a:normAutofit/>
          </a:bodyPr>
          <a:lstStyle/>
          <a:p>
            <a:r>
              <a:rPr lang="en-IN" sz="1600" dirty="0"/>
              <a:t>Keras API was built as a Theano wrapper by Francois Chollet.</a:t>
            </a:r>
          </a:p>
          <a:p>
            <a:r>
              <a:rPr lang="en-IN" sz="1600" dirty="0"/>
              <a:t>Theano was the most popular deep learning library in python when deep learning was becoming popular.</a:t>
            </a:r>
          </a:p>
          <a:p>
            <a:r>
              <a:rPr lang="en-IN" sz="1600" dirty="0"/>
              <a:t>Since Theano was complicated, that’s why Keras was so useful!</a:t>
            </a:r>
          </a:p>
          <a:p>
            <a:r>
              <a:rPr lang="en-IN" sz="1600" dirty="0"/>
              <a:t>As deep learning became popular, Keras was expanded to wrap more libraries(TensorFlow, CNTK, etc).</a:t>
            </a:r>
          </a:p>
          <a:p>
            <a:r>
              <a:rPr lang="en-IN" sz="1600" dirty="0"/>
              <a:t>The inventor of Keras (Francois Chollet) was hired by google to do more research on Deep Learning, hence the choice of making the Keras API front and center is obvious.</a:t>
            </a:r>
          </a:p>
        </p:txBody>
      </p:sp>
      <p:sp>
        <p:nvSpPr>
          <p:cNvPr id="4" name="Slide Number Placeholder 3">
            <a:extLst>
              <a:ext uri="{FF2B5EF4-FFF2-40B4-BE49-F238E27FC236}">
                <a16:creationId xmlns:a16="http://schemas.microsoft.com/office/drawing/2014/main" id="{62E2872B-B1D2-DE91-9511-6241AEB45A6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spTree>
    <p:extLst>
      <p:ext uri="{BB962C8B-B14F-4D97-AF65-F5344CB8AC3E}">
        <p14:creationId xmlns:p14="http://schemas.microsoft.com/office/powerpoint/2010/main" val="3213713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8CB0-4FBA-476F-D337-DD942D0EBDDD}"/>
              </a:ext>
            </a:extLst>
          </p:cNvPr>
          <p:cNvSpPr>
            <a:spLocks noGrp="1"/>
          </p:cNvSpPr>
          <p:nvPr>
            <p:ph type="title"/>
          </p:nvPr>
        </p:nvSpPr>
        <p:spPr/>
        <p:txBody>
          <a:bodyPr/>
          <a:lstStyle/>
          <a:p>
            <a:r>
              <a:rPr lang="en-IN" dirty="0"/>
              <a:t>Why Keras ?</a:t>
            </a:r>
          </a:p>
        </p:txBody>
      </p:sp>
      <p:sp>
        <p:nvSpPr>
          <p:cNvPr id="3" name="Text Placeholder 2">
            <a:extLst>
              <a:ext uri="{FF2B5EF4-FFF2-40B4-BE49-F238E27FC236}">
                <a16:creationId xmlns:a16="http://schemas.microsoft.com/office/drawing/2014/main" id="{231D29B9-9DD8-A914-B2A4-B5570CD06EDD}"/>
              </a:ext>
            </a:extLst>
          </p:cNvPr>
          <p:cNvSpPr>
            <a:spLocks noGrp="1"/>
          </p:cNvSpPr>
          <p:nvPr>
            <p:ph type="body" idx="1"/>
          </p:nvPr>
        </p:nvSpPr>
        <p:spPr/>
        <p:txBody>
          <a:bodyPr>
            <a:normAutofit/>
          </a:bodyPr>
          <a:lstStyle/>
          <a:p>
            <a:r>
              <a:rPr lang="en-IN" sz="1600" dirty="0"/>
              <a:t>In Software Engineering, We want things to be easy.</a:t>
            </a:r>
          </a:p>
          <a:p>
            <a:r>
              <a:rPr lang="en-IN" sz="1600" dirty="0"/>
              <a:t>Google advised how to use TF2 in many presentations given in the summer of 2019 to promote TensorFlow 2, and has stated the same thing</a:t>
            </a:r>
          </a:p>
          <a:p>
            <a:pPr marL="114300" indent="0">
              <a:buNone/>
            </a:pPr>
            <a:endParaRPr lang="en-IN" sz="1600" dirty="0"/>
          </a:p>
          <a:p>
            <a:endParaRPr lang="en-IN" sz="1600" dirty="0"/>
          </a:p>
        </p:txBody>
      </p:sp>
      <p:sp>
        <p:nvSpPr>
          <p:cNvPr id="4" name="Slide Number Placeholder 3">
            <a:extLst>
              <a:ext uri="{FF2B5EF4-FFF2-40B4-BE49-F238E27FC236}">
                <a16:creationId xmlns:a16="http://schemas.microsoft.com/office/drawing/2014/main" id="{7553B439-7461-1BC5-DC1D-A862563DEC1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6" name="Picture 5">
            <a:extLst>
              <a:ext uri="{FF2B5EF4-FFF2-40B4-BE49-F238E27FC236}">
                <a16:creationId xmlns:a16="http://schemas.microsoft.com/office/drawing/2014/main" id="{0F855B36-3AFD-5154-F548-CB0C05F5ABA8}"/>
              </a:ext>
            </a:extLst>
          </p:cNvPr>
          <p:cNvPicPr>
            <a:picLocks noChangeAspect="1"/>
          </p:cNvPicPr>
          <p:nvPr/>
        </p:nvPicPr>
        <p:blipFill>
          <a:blip r:embed="rId2"/>
          <a:stretch>
            <a:fillRect/>
          </a:stretch>
        </p:blipFill>
        <p:spPr>
          <a:xfrm>
            <a:off x="1236703" y="2270502"/>
            <a:ext cx="5740695" cy="2118899"/>
          </a:xfrm>
          <a:prstGeom prst="rect">
            <a:avLst/>
          </a:prstGeom>
        </p:spPr>
      </p:pic>
    </p:spTree>
    <p:extLst>
      <p:ext uri="{BB962C8B-B14F-4D97-AF65-F5344CB8AC3E}">
        <p14:creationId xmlns:p14="http://schemas.microsoft.com/office/powerpoint/2010/main" val="22205363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71744-4267-ECEA-F809-F0D793E664B9}"/>
              </a:ext>
            </a:extLst>
          </p:cNvPr>
          <p:cNvSpPr>
            <a:spLocks noGrp="1"/>
          </p:cNvSpPr>
          <p:nvPr>
            <p:ph type="title"/>
          </p:nvPr>
        </p:nvSpPr>
        <p:spPr/>
        <p:txBody>
          <a:bodyPr/>
          <a:lstStyle/>
          <a:p>
            <a:r>
              <a:rPr lang="en-IN" dirty="0" err="1"/>
              <a:t>Keras</a:t>
            </a:r>
            <a:r>
              <a:rPr lang="en-IN" dirty="0"/>
              <a:t> Modules</a:t>
            </a:r>
          </a:p>
        </p:txBody>
      </p:sp>
      <p:sp>
        <p:nvSpPr>
          <p:cNvPr id="3" name="Text Placeholder 2">
            <a:extLst>
              <a:ext uri="{FF2B5EF4-FFF2-40B4-BE49-F238E27FC236}">
                <a16:creationId xmlns:a16="http://schemas.microsoft.com/office/drawing/2014/main" id="{9C5C0E8F-CDC8-F4E7-E772-175151F0529B}"/>
              </a:ext>
            </a:extLst>
          </p:cNvPr>
          <p:cNvSpPr>
            <a:spLocks noGrp="1"/>
          </p:cNvSpPr>
          <p:nvPr>
            <p:ph type="body" idx="1"/>
          </p:nvPr>
        </p:nvSpPr>
        <p:spPr/>
        <p:txBody>
          <a:bodyPr>
            <a:noAutofit/>
          </a:bodyPr>
          <a:lstStyle/>
          <a:p>
            <a:pPr marL="114300" indent="0">
              <a:buNone/>
            </a:pPr>
            <a:r>
              <a:rPr lang="en-US" sz="1600" b="0" i="0" dirty="0">
                <a:solidFill>
                  <a:srgbClr val="374151"/>
                </a:solidFill>
                <a:effectLst/>
                <a:latin typeface="Söhne"/>
              </a:rPr>
              <a:t>Keras provides a number of modules that you can use to build and train deep learning models. Some of the main modules in Keras include:</a:t>
            </a:r>
          </a:p>
          <a:p>
            <a:r>
              <a:rPr lang="en-US" sz="1600" b="1" dirty="0">
                <a:solidFill>
                  <a:srgbClr val="374151"/>
                </a:solidFill>
                <a:latin typeface="Söhne"/>
              </a:rPr>
              <a:t>Layers</a:t>
            </a:r>
            <a:r>
              <a:rPr lang="en-US" sz="1600" dirty="0">
                <a:solidFill>
                  <a:srgbClr val="374151"/>
                </a:solidFill>
                <a:latin typeface="Söhne"/>
              </a:rPr>
              <a:t>: </a:t>
            </a:r>
            <a:r>
              <a:rPr lang="en-US" sz="1600" b="0" i="0" dirty="0">
                <a:solidFill>
                  <a:srgbClr val="374151"/>
                </a:solidFill>
                <a:effectLst/>
                <a:latin typeface="Söhne"/>
              </a:rPr>
              <a:t>This module provides a variety of pre-built layers that you can use to build your model. </a:t>
            </a:r>
          </a:p>
          <a:p>
            <a:pPr marL="114300" indent="0" algn="l">
              <a:buNone/>
            </a:pPr>
            <a:r>
              <a:rPr lang="en-US" sz="1600" b="1" i="0" dirty="0">
                <a:solidFill>
                  <a:srgbClr val="374151"/>
                </a:solidFill>
                <a:effectLst/>
                <a:latin typeface="Söhne"/>
              </a:rPr>
              <a:t>	Dense layers</a:t>
            </a:r>
            <a:r>
              <a:rPr lang="en-US" sz="1600" b="0" i="0" dirty="0">
                <a:solidFill>
                  <a:srgbClr val="374151"/>
                </a:solidFill>
                <a:effectLst/>
                <a:latin typeface="Söhne"/>
              </a:rPr>
              <a:t>: Also known as fully-connected layers, dense layers connect all of the 	inputs in the layer to all of the outputs in the layer.</a:t>
            </a:r>
          </a:p>
          <a:p>
            <a:pPr marL="114300" indent="0" algn="l">
              <a:buNone/>
            </a:pPr>
            <a:r>
              <a:rPr lang="en-US" sz="1600" b="1" i="0" dirty="0">
                <a:solidFill>
                  <a:srgbClr val="374151"/>
                </a:solidFill>
                <a:effectLst/>
                <a:latin typeface="Söhne"/>
              </a:rPr>
              <a:t>	Convolutional layers</a:t>
            </a:r>
            <a:r>
              <a:rPr lang="en-US" sz="1600" b="0" i="0" dirty="0">
                <a:solidFill>
                  <a:srgbClr val="374151"/>
                </a:solidFill>
                <a:effectLst/>
                <a:latin typeface="Söhne"/>
              </a:rPr>
              <a:t>: These layers are used for processing data with a grid-like 	topology, such as images. They apply a set of filters to the input data to extract 	features.</a:t>
            </a:r>
          </a:p>
          <a:p>
            <a:pPr marL="114300" indent="0" algn="l">
              <a:buNone/>
            </a:pPr>
            <a:r>
              <a:rPr lang="en-US" sz="1600" b="1" i="0" dirty="0">
                <a:solidFill>
                  <a:srgbClr val="374151"/>
                </a:solidFill>
                <a:effectLst/>
                <a:latin typeface="Söhne"/>
              </a:rPr>
              <a:t>	Pooling layers</a:t>
            </a:r>
            <a:r>
              <a:rPr lang="en-US" sz="1600" b="0" i="0" dirty="0">
                <a:solidFill>
                  <a:srgbClr val="374151"/>
                </a:solidFill>
                <a:effectLst/>
                <a:latin typeface="Söhne"/>
              </a:rPr>
              <a:t>: Pooling layers subsample the input data and reduce its dimensionality. 	This can help to reduce overfitting and improve the performance of the model.</a:t>
            </a:r>
          </a:p>
          <a:p>
            <a:pPr marL="114300" indent="0" algn="l">
              <a:buNone/>
            </a:pPr>
            <a:endParaRPr lang="en-US" sz="1600" b="0" i="0" dirty="0">
              <a:solidFill>
                <a:srgbClr val="374151"/>
              </a:solidFill>
              <a:effectLst/>
              <a:latin typeface="Söhne"/>
            </a:endParaRPr>
          </a:p>
          <a:p>
            <a:endParaRPr lang="en-US" sz="1600" dirty="0">
              <a:solidFill>
                <a:srgbClr val="374151"/>
              </a:solidFill>
              <a:latin typeface="Söhne"/>
            </a:endParaRPr>
          </a:p>
        </p:txBody>
      </p:sp>
      <p:sp>
        <p:nvSpPr>
          <p:cNvPr id="4" name="Slide Number Placeholder 3">
            <a:extLst>
              <a:ext uri="{FF2B5EF4-FFF2-40B4-BE49-F238E27FC236}">
                <a16:creationId xmlns:a16="http://schemas.microsoft.com/office/drawing/2014/main" id="{42506869-BE08-C1A7-5DAE-005BF8C3C6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36101287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757FA-552B-1FBB-C88E-4E1E5BB4696E}"/>
              </a:ext>
            </a:extLst>
          </p:cNvPr>
          <p:cNvSpPr>
            <a:spLocks noGrp="1"/>
          </p:cNvSpPr>
          <p:nvPr>
            <p:ph type="title"/>
          </p:nvPr>
        </p:nvSpPr>
        <p:spPr/>
        <p:txBody>
          <a:bodyPr/>
          <a:lstStyle/>
          <a:p>
            <a:r>
              <a:rPr lang="en-IN" dirty="0" err="1"/>
              <a:t>Keras</a:t>
            </a:r>
            <a:r>
              <a:rPr lang="en-IN" dirty="0"/>
              <a:t> Modules</a:t>
            </a:r>
          </a:p>
        </p:txBody>
      </p:sp>
      <p:sp>
        <p:nvSpPr>
          <p:cNvPr id="3" name="Text Placeholder 2">
            <a:extLst>
              <a:ext uri="{FF2B5EF4-FFF2-40B4-BE49-F238E27FC236}">
                <a16:creationId xmlns:a16="http://schemas.microsoft.com/office/drawing/2014/main" id="{95A67949-C312-6F4B-A130-21D047E8F4A5}"/>
              </a:ext>
            </a:extLst>
          </p:cNvPr>
          <p:cNvSpPr>
            <a:spLocks noGrp="1"/>
          </p:cNvSpPr>
          <p:nvPr>
            <p:ph type="body" idx="1"/>
          </p:nvPr>
        </p:nvSpPr>
        <p:spPr/>
        <p:txBody>
          <a:bodyPr>
            <a:normAutofit/>
          </a:bodyPr>
          <a:lstStyle/>
          <a:p>
            <a:pPr marL="114300" indent="0">
              <a:buNone/>
            </a:pPr>
            <a:r>
              <a:rPr lang="en-US" sz="1600" b="1" i="0" dirty="0">
                <a:solidFill>
                  <a:srgbClr val="374151"/>
                </a:solidFill>
                <a:effectLst/>
                <a:latin typeface="Söhne"/>
              </a:rPr>
              <a:t>	Recurrent layers</a:t>
            </a:r>
            <a:r>
              <a:rPr lang="en-US" sz="1600" b="0" i="0" dirty="0">
                <a:solidFill>
                  <a:srgbClr val="374151"/>
                </a:solidFill>
                <a:effectLst/>
                <a:latin typeface="Söhne"/>
              </a:rPr>
              <a:t>: These layers are used for processing sequential data, such as time 	series or natural language. They maintain a state that is updated at each timestep and 	allow the model to consider the context of previous timesteps when processing the 	current timestep</a:t>
            </a:r>
          </a:p>
          <a:p>
            <a:pPr marL="114300" indent="0">
              <a:buNone/>
            </a:pPr>
            <a:r>
              <a:rPr lang="en-US" sz="1400" b="1" i="0" dirty="0">
                <a:effectLst/>
                <a:latin typeface="Söhne"/>
              </a:rPr>
              <a:t>	Dropout layer</a:t>
            </a:r>
            <a:r>
              <a:rPr lang="en-US" sz="1400" b="0" i="0" dirty="0">
                <a:solidFill>
                  <a:srgbClr val="374151"/>
                </a:solidFill>
                <a:effectLst/>
                <a:latin typeface="Söhne"/>
              </a:rPr>
              <a:t>: This layer randomly sets a fraction of input units to 0 at each update during 	training time, which helps to prevent overfitting</a:t>
            </a:r>
            <a:endParaRPr lang="en-US" sz="1400" b="1" dirty="0">
              <a:solidFill>
                <a:srgbClr val="374151"/>
              </a:solidFill>
              <a:latin typeface="Söhne"/>
            </a:endParaRPr>
          </a:p>
          <a:p>
            <a:r>
              <a:rPr lang="en-US" sz="1600" b="1" dirty="0">
                <a:solidFill>
                  <a:srgbClr val="374151"/>
                </a:solidFill>
                <a:latin typeface="Söhne"/>
              </a:rPr>
              <a:t>Models</a:t>
            </a:r>
            <a:r>
              <a:rPr lang="en-US" sz="1600" dirty="0">
                <a:solidFill>
                  <a:srgbClr val="374151"/>
                </a:solidFill>
                <a:latin typeface="Söhne"/>
              </a:rPr>
              <a:t>: </a:t>
            </a:r>
            <a:r>
              <a:rPr lang="en-US" sz="1600" b="0" i="0" dirty="0">
                <a:solidFill>
                  <a:srgbClr val="374151"/>
                </a:solidFill>
                <a:effectLst/>
                <a:latin typeface="Söhne"/>
              </a:rPr>
              <a:t>This module provides functions for creating and compiling deep learning models. You can use it to define the architecture of your model, specify the loss function and optimizer that you want to use, and compile the model for training.</a:t>
            </a:r>
          </a:p>
          <a:p>
            <a:r>
              <a:rPr lang="en-US" sz="1600" b="1" dirty="0">
                <a:solidFill>
                  <a:srgbClr val="374151"/>
                </a:solidFill>
                <a:latin typeface="Söhne"/>
              </a:rPr>
              <a:t>Preprocessing</a:t>
            </a:r>
            <a:r>
              <a:rPr lang="en-US" sz="1600" dirty="0">
                <a:solidFill>
                  <a:srgbClr val="374151"/>
                </a:solidFill>
                <a:latin typeface="Söhne"/>
              </a:rPr>
              <a:t>: </a:t>
            </a:r>
            <a:r>
              <a:rPr lang="en-US" sz="1600" b="0" i="0" dirty="0">
                <a:solidFill>
                  <a:srgbClr val="374151"/>
                </a:solidFill>
                <a:effectLst/>
                <a:latin typeface="Söhne"/>
              </a:rPr>
              <a:t>This module provides functions for preprocessing data that you can use before feeding it into your model. This can include tasks such as scaling data, encoding categorical variables, and splitting data into training and test sets.</a:t>
            </a:r>
          </a:p>
          <a:p>
            <a:endParaRPr lang="en-IN" dirty="0"/>
          </a:p>
        </p:txBody>
      </p:sp>
      <p:sp>
        <p:nvSpPr>
          <p:cNvPr id="4" name="Slide Number Placeholder 3">
            <a:extLst>
              <a:ext uri="{FF2B5EF4-FFF2-40B4-BE49-F238E27FC236}">
                <a16:creationId xmlns:a16="http://schemas.microsoft.com/office/drawing/2014/main" id="{6F1D3A12-BE30-E7D9-D28E-BC440C85AED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spTree>
    <p:extLst>
      <p:ext uri="{BB962C8B-B14F-4D97-AF65-F5344CB8AC3E}">
        <p14:creationId xmlns:p14="http://schemas.microsoft.com/office/powerpoint/2010/main" val="4196228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E77CE-52C8-BBDE-89BA-D88E0AC5670F}"/>
              </a:ext>
            </a:extLst>
          </p:cNvPr>
          <p:cNvSpPr>
            <a:spLocks noGrp="1"/>
          </p:cNvSpPr>
          <p:nvPr>
            <p:ph type="title"/>
          </p:nvPr>
        </p:nvSpPr>
        <p:spPr/>
        <p:txBody>
          <a:bodyPr/>
          <a:lstStyle/>
          <a:p>
            <a:r>
              <a:rPr lang="en-IN" dirty="0" err="1"/>
              <a:t>Keras</a:t>
            </a:r>
            <a:r>
              <a:rPr lang="en-IN" dirty="0"/>
              <a:t> Modules</a:t>
            </a:r>
          </a:p>
        </p:txBody>
      </p:sp>
      <p:sp>
        <p:nvSpPr>
          <p:cNvPr id="3" name="Text Placeholder 2">
            <a:extLst>
              <a:ext uri="{FF2B5EF4-FFF2-40B4-BE49-F238E27FC236}">
                <a16:creationId xmlns:a16="http://schemas.microsoft.com/office/drawing/2014/main" id="{E14EA934-6ACA-A9BB-0448-A945089A57B9}"/>
              </a:ext>
            </a:extLst>
          </p:cNvPr>
          <p:cNvSpPr>
            <a:spLocks noGrp="1"/>
          </p:cNvSpPr>
          <p:nvPr>
            <p:ph type="body" idx="1"/>
          </p:nvPr>
        </p:nvSpPr>
        <p:spPr/>
        <p:txBody>
          <a:bodyPr/>
          <a:lstStyle/>
          <a:p>
            <a:r>
              <a:rPr lang="en-US" sz="1600" b="1" dirty="0">
                <a:solidFill>
                  <a:srgbClr val="374151"/>
                </a:solidFill>
                <a:latin typeface="Söhne"/>
              </a:rPr>
              <a:t>Utils</a:t>
            </a:r>
            <a:r>
              <a:rPr lang="en-US" sz="1600" dirty="0">
                <a:solidFill>
                  <a:srgbClr val="374151"/>
                </a:solidFill>
                <a:latin typeface="Söhne"/>
              </a:rPr>
              <a:t>: </a:t>
            </a:r>
            <a:r>
              <a:rPr lang="en-US" sz="1600" b="0" i="0" dirty="0">
                <a:solidFill>
                  <a:srgbClr val="374151"/>
                </a:solidFill>
                <a:effectLst/>
                <a:latin typeface="Söhne"/>
              </a:rPr>
              <a:t>This module provides a variety of utility functions that you can use when working with deep learning models. This can include functions for saving and loading models, visualizing results, and more</a:t>
            </a:r>
            <a:endParaRPr lang="en-IN" sz="1600" dirty="0"/>
          </a:p>
          <a:p>
            <a:r>
              <a:rPr lang="en-IN" sz="1600" b="1" dirty="0">
                <a:solidFill>
                  <a:srgbClr val="374151"/>
                </a:solidFill>
                <a:latin typeface="Söhne"/>
              </a:rPr>
              <a:t>Activations</a:t>
            </a:r>
            <a:r>
              <a:rPr lang="en-IN" sz="1600" dirty="0">
                <a:solidFill>
                  <a:srgbClr val="374151"/>
                </a:solidFill>
                <a:latin typeface="Söhne"/>
              </a:rPr>
              <a:t>: </a:t>
            </a:r>
            <a:r>
              <a:rPr lang="en-US" sz="1600" dirty="0">
                <a:solidFill>
                  <a:srgbClr val="374151"/>
                </a:solidFill>
                <a:latin typeface="Söhne"/>
              </a:rPr>
              <a:t>module provides a range of functions that can be used as activation functions in a neural network such as relu, sigmoid, tanh, </a:t>
            </a:r>
            <a:r>
              <a:rPr lang="en-US" sz="1600" dirty="0" err="1">
                <a:solidFill>
                  <a:srgbClr val="374151"/>
                </a:solidFill>
                <a:latin typeface="Söhne"/>
              </a:rPr>
              <a:t>softmax</a:t>
            </a:r>
            <a:r>
              <a:rPr lang="en-US" sz="1600" dirty="0">
                <a:solidFill>
                  <a:srgbClr val="374151"/>
                </a:solidFill>
                <a:latin typeface="Söhne"/>
              </a:rPr>
              <a:t> </a:t>
            </a:r>
            <a:r>
              <a:rPr lang="en-US" sz="1600">
                <a:solidFill>
                  <a:srgbClr val="374151"/>
                </a:solidFill>
                <a:latin typeface="Söhne"/>
              </a:rPr>
              <a:t>etc</a:t>
            </a:r>
            <a:endParaRPr lang="en-IN" sz="1600" dirty="0">
              <a:solidFill>
                <a:srgbClr val="374151"/>
              </a:solidFill>
              <a:latin typeface="Söhne"/>
            </a:endParaRPr>
          </a:p>
        </p:txBody>
      </p:sp>
      <p:sp>
        <p:nvSpPr>
          <p:cNvPr id="4" name="Slide Number Placeholder 3">
            <a:extLst>
              <a:ext uri="{FF2B5EF4-FFF2-40B4-BE49-F238E27FC236}">
                <a16:creationId xmlns:a16="http://schemas.microsoft.com/office/drawing/2014/main" id="{4C3D9B14-B428-D78C-7A63-3B4A9A3DE3E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spTree>
    <p:extLst>
      <p:ext uri="{BB962C8B-B14F-4D97-AF65-F5344CB8AC3E}">
        <p14:creationId xmlns:p14="http://schemas.microsoft.com/office/powerpoint/2010/main" val="2172270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CA000-AF82-2792-D4B8-8E12ECBFB02A}"/>
              </a:ext>
            </a:extLst>
          </p:cNvPr>
          <p:cNvSpPr>
            <a:spLocks noGrp="1"/>
          </p:cNvSpPr>
          <p:nvPr>
            <p:ph type="title"/>
          </p:nvPr>
        </p:nvSpPr>
        <p:spPr/>
        <p:txBody>
          <a:bodyPr/>
          <a:lstStyle/>
          <a:p>
            <a:r>
              <a:rPr lang="en-IN" dirty="0"/>
              <a:t>What is a Neuron?</a:t>
            </a:r>
          </a:p>
        </p:txBody>
      </p:sp>
      <p:sp>
        <p:nvSpPr>
          <p:cNvPr id="3" name="Text Placeholder 2">
            <a:extLst>
              <a:ext uri="{FF2B5EF4-FFF2-40B4-BE49-F238E27FC236}">
                <a16:creationId xmlns:a16="http://schemas.microsoft.com/office/drawing/2014/main" id="{5F770ED8-2E14-B36C-D0F0-8957DFBE341E}"/>
              </a:ext>
            </a:extLst>
          </p:cNvPr>
          <p:cNvSpPr>
            <a:spLocks noGrp="1"/>
          </p:cNvSpPr>
          <p:nvPr>
            <p:ph type="body" idx="1"/>
          </p:nvPr>
        </p:nvSpPr>
        <p:spPr>
          <a:xfrm>
            <a:off x="457199" y="905683"/>
            <a:ext cx="8229600" cy="3394472"/>
          </a:xfrm>
        </p:spPr>
        <p:txBody>
          <a:bodyPr>
            <a:normAutofit/>
          </a:bodyPr>
          <a:lstStyle/>
          <a:p>
            <a:r>
              <a:rPr lang="en-US" sz="1600" b="0" i="0" dirty="0">
                <a:solidFill>
                  <a:srgbClr val="374151"/>
                </a:solidFill>
                <a:effectLst/>
                <a:latin typeface="Söhne"/>
              </a:rPr>
              <a:t>In artificial neural networks (ANNs), a neuron is a computational unit that takes in inputs, processes them, and produces an output. It is inspired by the structure and function of neurons in the human brain.</a:t>
            </a:r>
          </a:p>
          <a:p>
            <a:r>
              <a:rPr lang="en-US" sz="1600" b="0" i="0" dirty="0">
                <a:solidFill>
                  <a:srgbClr val="374151"/>
                </a:solidFill>
                <a:effectLst/>
                <a:latin typeface="Söhne"/>
              </a:rPr>
              <a:t>Each neuron receives input from other neurons or external sources through a set of weighted connections. The weights of these connections correspond to the strength of the influence that each input has on the neuron's output. The neuron processes the inputs by applying an activation function, which determines the output of the neuron based on the inputs and their weights. The output of the neuron </a:t>
            </a:r>
          </a:p>
          <a:p>
            <a:pPr marL="114300" indent="0">
              <a:buNone/>
            </a:pPr>
            <a:r>
              <a:rPr lang="en-US" sz="1600" dirty="0">
                <a:solidFill>
                  <a:srgbClr val="374151"/>
                </a:solidFill>
                <a:latin typeface="Söhne"/>
              </a:rPr>
              <a:t>       </a:t>
            </a:r>
            <a:r>
              <a:rPr lang="en-US" sz="1600" b="0" i="0" dirty="0">
                <a:solidFill>
                  <a:srgbClr val="374151"/>
                </a:solidFill>
                <a:effectLst/>
                <a:latin typeface="Söhne"/>
              </a:rPr>
              <a:t>is then passed on to other neurons or used as the </a:t>
            </a:r>
          </a:p>
          <a:p>
            <a:pPr marL="114300" indent="0">
              <a:buNone/>
            </a:pPr>
            <a:r>
              <a:rPr lang="en-US" sz="1600" dirty="0">
                <a:solidFill>
                  <a:srgbClr val="374151"/>
                </a:solidFill>
                <a:latin typeface="Söhne"/>
              </a:rPr>
              <a:t>       </a:t>
            </a:r>
            <a:r>
              <a:rPr lang="en-US" sz="1600" b="0" i="0" dirty="0">
                <a:solidFill>
                  <a:srgbClr val="374151"/>
                </a:solidFill>
                <a:effectLst/>
                <a:latin typeface="Söhne"/>
              </a:rPr>
              <a:t>final output of the neural network.</a:t>
            </a:r>
            <a:endParaRPr lang="en-IN" sz="1600" dirty="0"/>
          </a:p>
        </p:txBody>
      </p:sp>
      <p:sp>
        <p:nvSpPr>
          <p:cNvPr id="4" name="Slide Number Placeholder 3">
            <a:extLst>
              <a:ext uri="{FF2B5EF4-FFF2-40B4-BE49-F238E27FC236}">
                <a16:creationId xmlns:a16="http://schemas.microsoft.com/office/drawing/2014/main" id="{3BBDF308-8969-4E6C-E21D-D23D530615A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a:p>
        </p:txBody>
      </p:sp>
      <p:pic>
        <p:nvPicPr>
          <p:cNvPr id="1026" name="Picture 2" descr="Artificial Neural Network Tutorial - Javatpoint">
            <a:extLst>
              <a:ext uri="{FF2B5EF4-FFF2-40B4-BE49-F238E27FC236}">
                <a16:creationId xmlns:a16="http://schemas.microsoft.com/office/drawing/2014/main" id="{5E5195A4-1569-FEFD-BBDA-6AE95173A2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5036" y="2828441"/>
            <a:ext cx="3786565" cy="1783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1595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27DDD-CB26-60B3-369B-7550F73B5E68}"/>
              </a:ext>
            </a:extLst>
          </p:cNvPr>
          <p:cNvSpPr>
            <a:spLocks noGrp="1"/>
          </p:cNvSpPr>
          <p:nvPr>
            <p:ph type="title"/>
          </p:nvPr>
        </p:nvSpPr>
        <p:spPr/>
        <p:txBody>
          <a:bodyPr/>
          <a:lstStyle/>
          <a:p>
            <a:r>
              <a:rPr lang="en-IN" dirty="0"/>
              <a:t>O/P of a Neuron</a:t>
            </a:r>
          </a:p>
        </p:txBody>
      </p:sp>
      <p:sp>
        <p:nvSpPr>
          <p:cNvPr id="3" name="Text Placeholder 2">
            <a:extLst>
              <a:ext uri="{FF2B5EF4-FFF2-40B4-BE49-F238E27FC236}">
                <a16:creationId xmlns:a16="http://schemas.microsoft.com/office/drawing/2014/main" id="{EDB6F1F5-6C3D-31DF-6681-1451EB7B0066}"/>
              </a:ext>
            </a:extLst>
          </p:cNvPr>
          <p:cNvSpPr>
            <a:spLocks noGrp="1"/>
          </p:cNvSpPr>
          <p:nvPr>
            <p:ph type="body" idx="1"/>
          </p:nvPr>
        </p:nvSpPr>
        <p:spPr/>
        <p:txBody>
          <a:bodyPr>
            <a:normAutofit/>
          </a:bodyPr>
          <a:lstStyle/>
          <a:p>
            <a:r>
              <a:rPr lang="en-US" sz="1600" b="0" i="0" dirty="0">
                <a:solidFill>
                  <a:srgbClr val="374151"/>
                </a:solidFill>
                <a:effectLst/>
                <a:latin typeface="Söhne"/>
              </a:rPr>
              <a:t>The output from a neuron in a neural network is the result of applying the activation function to the weighted sum of the inputs to the neuron.</a:t>
            </a:r>
          </a:p>
          <a:p>
            <a:r>
              <a:rPr lang="en-US" sz="1600" dirty="0">
                <a:solidFill>
                  <a:srgbClr val="374151"/>
                </a:solidFill>
                <a:latin typeface="Söhne"/>
              </a:rPr>
              <a:t>For example, if a neuron has three inputs, x1, x2, and x3, and corresponding weights w1, w2, and w3, the weighted sum of the inputs would be calculated as follows:</a:t>
            </a:r>
          </a:p>
          <a:p>
            <a:r>
              <a:rPr lang="en-US" sz="1600" dirty="0" err="1">
                <a:solidFill>
                  <a:srgbClr val="374151"/>
                </a:solidFill>
                <a:latin typeface="Söhne"/>
              </a:rPr>
              <a:t>weighted_sum</a:t>
            </a:r>
            <a:r>
              <a:rPr lang="en-US" sz="1600" dirty="0">
                <a:solidFill>
                  <a:srgbClr val="374151"/>
                </a:solidFill>
                <a:latin typeface="Söhne"/>
              </a:rPr>
              <a:t> = x1 * w1 + x2 * w2 + x3 * w3</a:t>
            </a:r>
          </a:p>
          <a:p>
            <a:r>
              <a:rPr lang="en-US" sz="1600" dirty="0">
                <a:solidFill>
                  <a:srgbClr val="374151"/>
                </a:solidFill>
                <a:latin typeface="Söhne"/>
              </a:rPr>
              <a:t>The activation function would then be applied to the weighted sum to produce the output of the neuron</a:t>
            </a:r>
          </a:p>
          <a:p>
            <a:endParaRPr lang="en-IN" sz="1600" dirty="0"/>
          </a:p>
        </p:txBody>
      </p:sp>
      <p:sp>
        <p:nvSpPr>
          <p:cNvPr id="4" name="Slide Number Placeholder 3">
            <a:extLst>
              <a:ext uri="{FF2B5EF4-FFF2-40B4-BE49-F238E27FC236}">
                <a16:creationId xmlns:a16="http://schemas.microsoft.com/office/drawing/2014/main" id="{5634B758-750D-6563-290C-D17B7EADE2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extLst>
      <p:ext uri="{BB962C8B-B14F-4D97-AF65-F5344CB8AC3E}">
        <p14:creationId xmlns:p14="http://schemas.microsoft.com/office/powerpoint/2010/main" val="10125701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B5187-B34A-3547-9ED7-B8F860740D4F}"/>
              </a:ext>
            </a:extLst>
          </p:cNvPr>
          <p:cNvSpPr>
            <a:spLocks noGrp="1"/>
          </p:cNvSpPr>
          <p:nvPr>
            <p:ph type="title"/>
          </p:nvPr>
        </p:nvSpPr>
        <p:spPr/>
        <p:txBody>
          <a:bodyPr/>
          <a:lstStyle/>
          <a:p>
            <a:r>
              <a:rPr lang="en-IN" dirty="0"/>
              <a:t>Activation Functions</a:t>
            </a:r>
          </a:p>
        </p:txBody>
      </p:sp>
      <p:sp>
        <p:nvSpPr>
          <p:cNvPr id="3" name="Text Placeholder 2">
            <a:extLst>
              <a:ext uri="{FF2B5EF4-FFF2-40B4-BE49-F238E27FC236}">
                <a16:creationId xmlns:a16="http://schemas.microsoft.com/office/drawing/2014/main" id="{2CAB6365-376F-CF9E-164F-B75F48E4CAFA}"/>
              </a:ext>
            </a:extLst>
          </p:cNvPr>
          <p:cNvSpPr>
            <a:spLocks noGrp="1"/>
          </p:cNvSpPr>
          <p:nvPr>
            <p:ph type="body" idx="1"/>
          </p:nvPr>
        </p:nvSpPr>
        <p:spPr/>
        <p:txBody>
          <a:bodyPr>
            <a:normAutofit fontScale="62500" lnSpcReduction="20000"/>
          </a:bodyPr>
          <a:lstStyle/>
          <a:p>
            <a:pPr algn="l">
              <a:buFont typeface="+mj-lt"/>
              <a:buAutoNum type="arabicPeriod"/>
            </a:pPr>
            <a:r>
              <a:rPr lang="en-US" sz="2900" b="0" i="0" dirty="0">
                <a:solidFill>
                  <a:srgbClr val="374151"/>
                </a:solidFill>
                <a:effectLst/>
                <a:latin typeface="Söhne"/>
              </a:rPr>
              <a:t>Sigmoid: The sigmoid activation function maps any input to a value between 0 and 1. It is often used in the output layer of a binary classification model, where the output is interpreted as the probability that the input belongs to a certain class.</a:t>
            </a:r>
          </a:p>
          <a:p>
            <a:pPr algn="l">
              <a:buFont typeface="+mj-lt"/>
              <a:buAutoNum type="arabicPeriod"/>
            </a:pPr>
            <a:r>
              <a:rPr lang="en-US" sz="2900" b="0" i="0" dirty="0">
                <a:solidFill>
                  <a:srgbClr val="374151"/>
                </a:solidFill>
                <a:effectLst/>
                <a:latin typeface="Söhne"/>
              </a:rPr>
              <a:t>Tanh: The tanh activation function, like the sigmoid function, maps any input to a value between -1 and 1. It is similar to the sigmoid function, but it is centered around 0, which can make it easier to train deep neural networks.</a:t>
            </a:r>
          </a:p>
          <a:p>
            <a:pPr algn="l">
              <a:buFont typeface="+mj-lt"/>
              <a:buAutoNum type="arabicPeriod"/>
            </a:pPr>
            <a:r>
              <a:rPr lang="en-US" sz="2900" b="0" i="0" dirty="0" err="1">
                <a:solidFill>
                  <a:srgbClr val="374151"/>
                </a:solidFill>
                <a:effectLst/>
                <a:latin typeface="Söhne"/>
              </a:rPr>
              <a:t>ReLU</a:t>
            </a:r>
            <a:r>
              <a:rPr lang="en-US" sz="2900" b="0" i="0" dirty="0">
                <a:solidFill>
                  <a:srgbClr val="374151"/>
                </a:solidFill>
                <a:effectLst/>
                <a:latin typeface="Söhne"/>
              </a:rPr>
              <a:t>: The rectified linear unit (</a:t>
            </a:r>
            <a:r>
              <a:rPr lang="en-US" sz="2900" b="0" i="0" dirty="0" err="1">
                <a:solidFill>
                  <a:srgbClr val="374151"/>
                </a:solidFill>
                <a:effectLst/>
                <a:latin typeface="Söhne"/>
              </a:rPr>
              <a:t>ReLU</a:t>
            </a:r>
            <a:r>
              <a:rPr lang="en-US" sz="2900" b="0" i="0" dirty="0">
                <a:solidFill>
                  <a:srgbClr val="374151"/>
                </a:solidFill>
                <a:effectLst/>
                <a:latin typeface="Söhne"/>
              </a:rPr>
              <a:t>) activation function returns the input if it is positive, and returns 0 if it is negative. This function is widely used because it is simple to compute and has been shown to work well in practice.</a:t>
            </a:r>
          </a:p>
          <a:p>
            <a:pPr algn="l">
              <a:buFont typeface="+mj-lt"/>
              <a:buAutoNum type="arabicPeriod"/>
            </a:pPr>
            <a:r>
              <a:rPr lang="en-US" sz="2900" b="0" i="0" dirty="0">
                <a:solidFill>
                  <a:srgbClr val="374151"/>
                </a:solidFill>
                <a:effectLst/>
                <a:latin typeface="Söhne"/>
              </a:rPr>
              <a:t>Leaky </a:t>
            </a:r>
            <a:r>
              <a:rPr lang="en-US" sz="2900" b="0" i="0" dirty="0" err="1">
                <a:solidFill>
                  <a:srgbClr val="374151"/>
                </a:solidFill>
                <a:effectLst/>
                <a:latin typeface="Söhne"/>
              </a:rPr>
              <a:t>ReLU</a:t>
            </a:r>
            <a:r>
              <a:rPr lang="en-US" sz="2900" b="0" i="0" dirty="0">
                <a:solidFill>
                  <a:srgbClr val="374151"/>
                </a:solidFill>
                <a:effectLst/>
                <a:latin typeface="Söhne"/>
              </a:rPr>
              <a:t>: The leaky </a:t>
            </a:r>
            <a:r>
              <a:rPr lang="en-US" sz="2900" b="0" i="0" dirty="0" err="1">
                <a:solidFill>
                  <a:srgbClr val="374151"/>
                </a:solidFill>
                <a:effectLst/>
                <a:latin typeface="Söhne"/>
              </a:rPr>
              <a:t>ReLU</a:t>
            </a:r>
            <a:r>
              <a:rPr lang="en-US" sz="2900" b="0" i="0" dirty="0">
                <a:solidFill>
                  <a:srgbClr val="374151"/>
                </a:solidFill>
                <a:effectLst/>
                <a:latin typeface="Söhne"/>
              </a:rPr>
              <a:t> is an extension of the </a:t>
            </a:r>
            <a:r>
              <a:rPr lang="en-US" sz="2900" b="0" i="0" dirty="0" err="1">
                <a:solidFill>
                  <a:srgbClr val="374151"/>
                </a:solidFill>
                <a:effectLst/>
                <a:latin typeface="Söhne"/>
              </a:rPr>
              <a:t>ReLU</a:t>
            </a:r>
            <a:r>
              <a:rPr lang="en-US" sz="2900" b="0" i="0" dirty="0">
                <a:solidFill>
                  <a:srgbClr val="374151"/>
                </a:solidFill>
                <a:effectLst/>
                <a:latin typeface="Söhne"/>
              </a:rPr>
              <a:t> activation function that allows for a small gradient when the input is negative. This can help improve the performance of the model on certain tasks.</a:t>
            </a:r>
          </a:p>
          <a:p>
            <a:endParaRPr lang="en-IN" dirty="0"/>
          </a:p>
        </p:txBody>
      </p:sp>
      <p:sp>
        <p:nvSpPr>
          <p:cNvPr id="4" name="Slide Number Placeholder 3">
            <a:extLst>
              <a:ext uri="{FF2B5EF4-FFF2-40B4-BE49-F238E27FC236}">
                <a16:creationId xmlns:a16="http://schemas.microsoft.com/office/drawing/2014/main" id="{B13829DE-E1EF-99EF-A81D-8C7345154B39}"/>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17</a:t>
            </a:fld>
            <a:endParaRPr lang="en-US"/>
          </a:p>
        </p:txBody>
      </p:sp>
    </p:spTree>
    <p:extLst>
      <p:ext uri="{BB962C8B-B14F-4D97-AF65-F5344CB8AC3E}">
        <p14:creationId xmlns:p14="http://schemas.microsoft.com/office/powerpoint/2010/main" val="31854537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30CA5-BECE-2DAB-D8EF-D5368BB29A33}"/>
              </a:ext>
            </a:extLst>
          </p:cNvPr>
          <p:cNvSpPr>
            <a:spLocks noGrp="1"/>
          </p:cNvSpPr>
          <p:nvPr>
            <p:ph type="title"/>
          </p:nvPr>
        </p:nvSpPr>
        <p:spPr/>
        <p:txBody>
          <a:bodyPr/>
          <a:lstStyle/>
          <a:p>
            <a:r>
              <a:rPr lang="en-IN" dirty="0"/>
              <a:t>What is ANN</a:t>
            </a:r>
          </a:p>
        </p:txBody>
      </p:sp>
      <p:sp>
        <p:nvSpPr>
          <p:cNvPr id="3" name="Text Placeholder 2">
            <a:extLst>
              <a:ext uri="{FF2B5EF4-FFF2-40B4-BE49-F238E27FC236}">
                <a16:creationId xmlns:a16="http://schemas.microsoft.com/office/drawing/2014/main" id="{1BD5173C-AC11-1B89-D808-0407CC4D402E}"/>
              </a:ext>
            </a:extLst>
          </p:cNvPr>
          <p:cNvSpPr>
            <a:spLocks noGrp="1"/>
          </p:cNvSpPr>
          <p:nvPr>
            <p:ph type="body" idx="1"/>
          </p:nvPr>
        </p:nvSpPr>
        <p:spPr/>
        <p:txBody>
          <a:bodyPr>
            <a:normAutofit/>
          </a:bodyPr>
          <a:lstStyle/>
          <a:p>
            <a:r>
              <a:rPr lang="en-US" sz="1600" b="0" i="0" dirty="0">
                <a:solidFill>
                  <a:srgbClr val="374151"/>
                </a:solidFill>
                <a:effectLst/>
                <a:latin typeface="Söhne"/>
              </a:rPr>
              <a:t>Artificial neural networks (ANNs) are a type of machine learning algorithm modeled after the structure and function of the human brain. They are composed of interconnected units called "neurons," which process and transmit information.</a:t>
            </a:r>
          </a:p>
          <a:p>
            <a:r>
              <a:rPr lang="en-US" sz="1600" dirty="0">
                <a:solidFill>
                  <a:srgbClr val="374151"/>
                </a:solidFill>
                <a:latin typeface="Söhne"/>
              </a:rPr>
              <a:t>In this lecture, We are going to specifically discuss a special kind of artificial neural network called Feed Forward Neural Network.</a:t>
            </a:r>
          </a:p>
          <a:p>
            <a:endParaRPr lang="en-US" sz="1600" b="0" i="0" dirty="0">
              <a:solidFill>
                <a:srgbClr val="374151"/>
              </a:solidFill>
              <a:effectLst/>
              <a:latin typeface="Söhne"/>
            </a:endParaRPr>
          </a:p>
          <a:p>
            <a:endParaRPr lang="en-IN" sz="1600" dirty="0"/>
          </a:p>
        </p:txBody>
      </p:sp>
      <p:sp>
        <p:nvSpPr>
          <p:cNvPr id="4" name="Slide Number Placeholder 3">
            <a:extLst>
              <a:ext uri="{FF2B5EF4-FFF2-40B4-BE49-F238E27FC236}">
                <a16:creationId xmlns:a16="http://schemas.microsoft.com/office/drawing/2014/main" id="{8F2D6CE0-820D-1BAC-BCC5-DC6CBAD6736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18</a:t>
            </a:fld>
            <a:endParaRPr lang="en-US"/>
          </a:p>
        </p:txBody>
      </p:sp>
      <p:pic>
        <p:nvPicPr>
          <p:cNvPr id="2050" name="Picture 2" descr="Feed Forward Neural Network Definition | DeepAI">
            <a:extLst>
              <a:ext uri="{FF2B5EF4-FFF2-40B4-BE49-F238E27FC236}">
                <a16:creationId xmlns:a16="http://schemas.microsoft.com/office/drawing/2014/main" id="{75CC85B5-8AB1-9F22-8F37-16D59AA60B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30340" y="2634712"/>
            <a:ext cx="4256060" cy="20612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29975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BD15C-CE9C-C4BE-FE60-3E057515DF60}"/>
              </a:ext>
            </a:extLst>
          </p:cNvPr>
          <p:cNvSpPr>
            <a:spLocks noGrp="1"/>
          </p:cNvSpPr>
          <p:nvPr>
            <p:ph type="title"/>
          </p:nvPr>
        </p:nvSpPr>
        <p:spPr/>
        <p:txBody>
          <a:bodyPr/>
          <a:lstStyle/>
          <a:p>
            <a:r>
              <a:rPr lang="en-IN" dirty="0"/>
              <a:t>Repeating a Single Neuron</a:t>
            </a:r>
          </a:p>
        </p:txBody>
      </p:sp>
      <p:sp>
        <p:nvSpPr>
          <p:cNvPr id="3" name="Text Placeholder 2">
            <a:extLst>
              <a:ext uri="{FF2B5EF4-FFF2-40B4-BE49-F238E27FC236}">
                <a16:creationId xmlns:a16="http://schemas.microsoft.com/office/drawing/2014/main" id="{E59139A3-5D65-C285-3C23-31D31D6CA63A}"/>
              </a:ext>
            </a:extLst>
          </p:cNvPr>
          <p:cNvSpPr>
            <a:spLocks noGrp="1"/>
          </p:cNvSpPr>
          <p:nvPr>
            <p:ph type="body" idx="1"/>
          </p:nvPr>
        </p:nvSpPr>
        <p:spPr/>
        <p:txBody>
          <a:bodyPr>
            <a:normAutofit/>
          </a:bodyPr>
          <a:lstStyle/>
          <a:p>
            <a:r>
              <a:rPr lang="en-IN" sz="1600" dirty="0"/>
              <a:t>Left side is input and the right side is output</a:t>
            </a:r>
          </a:p>
          <a:p>
            <a:r>
              <a:rPr lang="en-IN" sz="1600" dirty="0"/>
              <a:t>In the real brain, the connection can be a “Criss Cross”</a:t>
            </a:r>
          </a:p>
          <a:p>
            <a:r>
              <a:rPr lang="en-IN" sz="1600" dirty="0"/>
              <a:t>A later neuron may connect back to an earlier neuron to create a recurrent connection.</a:t>
            </a:r>
          </a:p>
          <a:p>
            <a:r>
              <a:rPr lang="en-IN" sz="1600" dirty="0"/>
              <a:t>As the signal travels only from left to right, we call this kind of networks as “Feedforward” Neural network</a:t>
            </a:r>
          </a:p>
          <a:p>
            <a:r>
              <a:rPr lang="en-IN" sz="1600" dirty="0"/>
              <a:t>Each of these neurons may be </a:t>
            </a:r>
          </a:p>
          <a:p>
            <a:pPr marL="114300" indent="0">
              <a:buNone/>
            </a:pPr>
            <a:r>
              <a:rPr lang="en-IN" sz="1600" dirty="0"/>
              <a:t>        calculating  different features</a:t>
            </a:r>
          </a:p>
          <a:p>
            <a:r>
              <a:rPr lang="en-IN" sz="1600" dirty="0"/>
              <a:t>E.g. Let’s suppose input is a face,</a:t>
            </a:r>
          </a:p>
          <a:p>
            <a:pPr marL="114300" indent="0">
              <a:buNone/>
            </a:pPr>
            <a:r>
              <a:rPr lang="en-IN" sz="1600" dirty="0"/>
              <a:t>       then one neuron looks for the presence</a:t>
            </a:r>
          </a:p>
          <a:p>
            <a:pPr marL="114300" indent="0">
              <a:buNone/>
            </a:pPr>
            <a:r>
              <a:rPr lang="en-IN" sz="1600" dirty="0"/>
              <a:t>       of eyes whereas other looks for the</a:t>
            </a:r>
          </a:p>
          <a:p>
            <a:pPr marL="114300" indent="0">
              <a:buNone/>
            </a:pPr>
            <a:r>
              <a:rPr lang="en-IN" sz="1600" dirty="0"/>
              <a:t>       presence of nose.</a:t>
            </a:r>
          </a:p>
          <a:p>
            <a:pPr marL="114300" indent="0">
              <a:buNone/>
            </a:pPr>
            <a:endParaRPr lang="en-IN" sz="1600" dirty="0"/>
          </a:p>
        </p:txBody>
      </p:sp>
      <p:sp>
        <p:nvSpPr>
          <p:cNvPr id="4" name="Slide Number Placeholder 3">
            <a:extLst>
              <a:ext uri="{FF2B5EF4-FFF2-40B4-BE49-F238E27FC236}">
                <a16:creationId xmlns:a16="http://schemas.microsoft.com/office/drawing/2014/main" id="{D2AC11DB-C960-F92C-8A26-8FB10A3764D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19</a:t>
            </a:fld>
            <a:endParaRPr lang="en-US"/>
          </a:p>
        </p:txBody>
      </p:sp>
      <p:pic>
        <p:nvPicPr>
          <p:cNvPr id="3074" name="Picture 2" descr="Feedforward Neural Networks | SpringerLink">
            <a:extLst>
              <a:ext uri="{FF2B5EF4-FFF2-40B4-BE49-F238E27FC236}">
                <a16:creationId xmlns:a16="http://schemas.microsoft.com/office/drawing/2014/main" id="{5B8CDE0C-9421-7B09-EACD-508D27B4C05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90672" y="2464231"/>
            <a:ext cx="3787640" cy="21303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6570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F3AB6-BFDD-AA15-64E7-43EE98A7C06D}"/>
              </a:ext>
            </a:extLst>
          </p:cNvPr>
          <p:cNvSpPr>
            <a:spLocks noGrp="1"/>
          </p:cNvSpPr>
          <p:nvPr>
            <p:ph type="title"/>
          </p:nvPr>
        </p:nvSpPr>
        <p:spPr/>
        <p:txBody>
          <a:bodyPr/>
          <a:lstStyle/>
          <a:p>
            <a:r>
              <a:rPr lang="en-IN" dirty="0"/>
              <a:t>Model training</a:t>
            </a:r>
          </a:p>
        </p:txBody>
      </p:sp>
      <p:sp>
        <p:nvSpPr>
          <p:cNvPr id="3" name="Text Placeholder 2">
            <a:extLst>
              <a:ext uri="{FF2B5EF4-FFF2-40B4-BE49-F238E27FC236}">
                <a16:creationId xmlns:a16="http://schemas.microsoft.com/office/drawing/2014/main" id="{479EEC3B-1CCB-470E-B24C-7F881C4A62C5}"/>
              </a:ext>
            </a:extLst>
          </p:cNvPr>
          <p:cNvSpPr>
            <a:spLocks noGrp="1"/>
          </p:cNvSpPr>
          <p:nvPr>
            <p:ph type="body" idx="1"/>
          </p:nvPr>
        </p:nvSpPr>
        <p:spPr/>
        <p:txBody>
          <a:bodyPr>
            <a:normAutofit/>
          </a:bodyPr>
          <a:lstStyle/>
          <a:p>
            <a:r>
              <a:rPr lang="en-US" sz="1600" b="0" i="0" dirty="0">
                <a:solidFill>
                  <a:srgbClr val="374151"/>
                </a:solidFill>
                <a:effectLst/>
                <a:latin typeface="Söhne"/>
              </a:rPr>
              <a:t>In a feedforward neural network, the learning process involves adjusting the weights and biases of the neurons in the network in order to minimize the error.</a:t>
            </a:r>
          </a:p>
          <a:p>
            <a:r>
              <a:rPr lang="en-US" sz="1600" dirty="0">
                <a:solidFill>
                  <a:srgbClr val="374151"/>
                </a:solidFill>
                <a:latin typeface="Söhne"/>
              </a:rPr>
              <a:t>Backpropagation is an algorithm used to train artificial neural networks (ANNs).</a:t>
            </a:r>
          </a:p>
          <a:p>
            <a:r>
              <a:rPr lang="en-US" sz="1600" dirty="0">
                <a:solidFill>
                  <a:srgbClr val="374151"/>
                </a:solidFill>
                <a:latin typeface="Söhne"/>
              </a:rPr>
              <a:t>The ANN makes a prediction based on the current weights and then compares the predicted output to the true output. The difference between predicted and true output is computed to compute an error value.</a:t>
            </a:r>
          </a:p>
          <a:p>
            <a:r>
              <a:rPr lang="en-US" sz="1600" dirty="0">
                <a:solidFill>
                  <a:srgbClr val="374151"/>
                </a:solidFill>
                <a:latin typeface="Söhne"/>
              </a:rPr>
              <a:t>The backpropagation algorithm then adjusts the weights in the network to reduce this error.</a:t>
            </a:r>
          </a:p>
          <a:p>
            <a:pPr marL="114300" indent="0">
              <a:buNone/>
            </a:pPr>
            <a:endParaRPr lang="en-IN" sz="1600" dirty="0">
              <a:solidFill>
                <a:srgbClr val="374151"/>
              </a:solidFill>
              <a:latin typeface="Söhne"/>
            </a:endParaRPr>
          </a:p>
        </p:txBody>
      </p:sp>
      <p:sp>
        <p:nvSpPr>
          <p:cNvPr id="4" name="Slide Number Placeholder 3">
            <a:extLst>
              <a:ext uri="{FF2B5EF4-FFF2-40B4-BE49-F238E27FC236}">
                <a16:creationId xmlns:a16="http://schemas.microsoft.com/office/drawing/2014/main" id="{8776A4EF-E3D4-6DF2-77D1-AB8EF75E4E6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20</a:t>
            </a:fld>
            <a:endParaRPr lang="en-US"/>
          </a:p>
        </p:txBody>
      </p:sp>
    </p:spTree>
    <p:extLst>
      <p:ext uri="{BB962C8B-B14F-4D97-AF65-F5344CB8AC3E}">
        <p14:creationId xmlns:p14="http://schemas.microsoft.com/office/powerpoint/2010/main" val="46566536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522</TotalTime>
  <Words>2332</Words>
  <Application>Microsoft Office PowerPoint</Application>
  <PresentationFormat>On-screen Show (16:9)</PresentationFormat>
  <Paragraphs>129</Paragraphs>
  <Slides>20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Söhne</vt:lpstr>
      <vt:lpstr>Söhne Mono</vt:lpstr>
      <vt:lpstr>Office Theme</vt:lpstr>
      <vt:lpstr>TensorFlow Foundation</vt:lpstr>
      <vt:lpstr>What is TensorFlow</vt:lpstr>
      <vt:lpstr>What is Tensorflow</vt:lpstr>
      <vt:lpstr>TensorFlow Modules</vt:lpstr>
      <vt:lpstr>TensorFlow Modules</vt:lpstr>
      <vt:lpstr>TensorFlow Modules</vt:lpstr>
      <vt:lpstr>TensorFlow Modules</vt:lpstr>
      <vt:lpstr>TensorFlow Modules</vt:lpstr>
      <vt:lpstr>TensorFlow Modules</vt:lpstr>
      <vt:lpstr>Keras </vt:lpstr>
      <vt:lpstr>Why Keras ?</vt:lpstr>
      <vt:lpstr>Keras Modules</vt:lpstr>
      <vt:lpstr>Keras Modules</vt:lpstr>
      <vt:lpstr>Keras Modules</vt:lpstr>
      <vt:lpstr>What is a Neuron?</vt:lpstr>
      <vt:lpstr>O/P of a Neuron</vt:lpstr>
      <vt:lpstr>Activation Functions</vt:lpstr>
      <vt:lpstr>What is ANN</vt:lpstr>
      <vt:lpstr>Repeating a Single Neuron</vt:lpstr>
      <vt:lpstr>Model training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TensorFlow Foundation</dc:title>
  <dc:creator>Ashok HOME</dc:creator>
  <cp:lastModifiedBy>Nisarg Nikhil</cp:lastModifiedBy>
  <cp:revision>7</cp:revision>
  <dcterms:created xsi:type="dcterms:W3CDTF">2006-08-16T00:00:00Z</dcterms:created>
  <dcterms:modified xsi:type="dcterms:W3CDTF">2023-03-16T05:00:17Z</dcterms:modified>
</cp:coreProperties>
</file>